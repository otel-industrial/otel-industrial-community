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Poppi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B5CA6C5-CB09-4017-887F-86AC95E1C0CB}">
  <a:tblStyle styleId="{2B5CA6C5-CB09-4017-887F-86AC95E1C0C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11" Type="http://schemas.openxmlformats.org/officeDocument/2006/relationships/slide" Target="slides/slide4.xml"/><Relationship Id="rId22" Type="http://schemas.openxmlformats.org/officeDocument/2006/relationships/font" Target="fonts/Poppins-italic.fntdata"/><Relationship Id="rId10" Type="http://schemas.openxmlformats.org/officeDocument/2006/relationships/slide" Target="slides/slide3.xml"/><Relationship Id="rId21" Type="http://schemas.openxmlformats.org/officeDocument/2006/relationships/font" Target="fonts/Poppins-bold.fntdata"/><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5f1cc9f0d_2_1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f5f1cc9f0d_2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5f1cc9f0d_2_2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f5f1cc9f0d_2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5f1cc9f0d_2_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g3f5f1cc9f0d_2_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OTel is the answer to vendor lock-in. Instrument once, send anywhere.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5f1cc9f0d_2_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g3f5f1cc9f0d_2_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OTel has won. The question is how fast to adopt, not whether.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5f1cc9f0d_2_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g3f5f1cc9f0d_2_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Slow spans are immediately visible. The Gantt view makes root cause obvious.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5f1cc9f0d_2_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g3f5f1cc9f0d_2_1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OTel has won. The question is how fast you adopt it.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5f1cc9f0d_2_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g3f5f1cc9f0d_2_10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Mix all three. Start with auto-instrumentation, add manual spans for business logic that matters.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5f1cc9f0d_2_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g3f5f1cc9f0d_2_1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The Collector decouples instrumentation from backends. Fan out to multiple destinations simultaneously.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5f1cc9f0d_2_1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g3f5f1cc9f0d_2_1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Semantic conventions are what make OTel more than an API. They enable out-of-the-box insight in any backend.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5f1cc9f0d_2_1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g3f5f1cc9f0d_2_19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Start with auto-instrumentation + Collector + Jaeger locally. Expand from there.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5fa4de34b_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g3f5fa4de34b_2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Start with auto-instrumentation + Collector + Jaeger locally. Expand from there.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5f1cc9f0d_2_2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g3f5f1cc9f0d_2_2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latin typeface="Calibri"/>
                <a:ea typeface="Calibri"/>
                <a:cs typeface="Calibri"/>
                <a:sym typeface="Calibri"/>
              </a:rPr>
              <a:t>Open the floor. Common Q's: Do I need the Collector? (want it, not need it). OTel vs Prometheus? (complementary). Sampling? (great follow-up topic).</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x">
  <p:cSld name="TITLE_AND_BODY">
    <p:spTree>
      <p:nvGrpSpPr>
        <p:cNvPr id="54" name="Shape 54"/>
        <p:cNvGrpSpPr/>
        <p:nvPr/>
      </p:nvGrpSpPr>
      <p:grpSpPr>
        <a:xfrm>
          <a:off x="0" y="0"/>
          <a:ext cx="0" cy="0"/>
          <a:chOff x="0" y="0"/>
          <a:chExt cx="0" cy="0"/>
        </a:xfrm>
      </p:grpSpPr>
      <p:sp>
        <p:nvSpPr>
          <p:cNvPr id="55" name="Google Shape;55;p14"/>
          <p:cNvSpPr txBox="1"/>
          <p:nvPr>
            <p:ph type="title"/>
          </p:nvPr>
        </p:nvSpPr>
        <p:spPr>
          <a:xfrm>
            <a:off x="311707" y="745845"/>
            <a:ext cx="8520482" cy="2052721"/>
          </a:xfrm>
          <a:prstGeom prst="rect">
            <a:avLst/>
          </a:prstGeom>
          <a:noFill/>
          <a:ln>
            <a:noFill/>
          </a:ln>
        </p:spPr>
        <p:txBody>
          <a:bodyPr anchorCtr="0" anchor="b" bIns="95475" lIns="95475" spcFirstLastPara="1" rIns="95475" wrap="square" tIns="95475">
            <a:normAutofit/>
          </a:bodyPr>
          <a:lstStyle>
            <a:lvl1pPr lvl="0" algn="ctr">
              <a:lnSpc>
                <a:spcPct val="100000"/>
              </a:lnSpc>
              <a:spcBef>
                <a:spcPts val="0"/>
              </a:spcBef>
              <a:spcAft>
                <a:spcPts val="0"/>
              </a:spcAft>
              <a:buClr>
                <a:srgbClr val="000000"/>
              </a:buClr>
              <a:buSzPts val="5200"/>
              <a:buFont typeface="Poppins"/>
              <a:buNone/>
              <a:defRPr sz="5200">
                <a:latin typeface="Poppins"/>
                <a:ea typeface="Poppins"/>
                <a:cs typeface="Poppins"/>
                <a:sym typeface="Poppi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6" name="Google Shape;56;p14"/>
          <p:cNvSpPr txBox="1"/>
          <p:nvPr>
            <p:ph idx="1" type="body"/>
          </p:nvPr>
        </p:nvSpPr>
        <p:spPr>
          <a:xfrm>
            <a:off x="311699" y="2835394"/>
            <a:ext cx="8520482" cy="792721"/>
          </a:xfrm>
          <a:prstGeom prst="rect">
            <a:avLst/>
          </a:prstGeom>
          <a:noFill/>
          <a:ln>
            <a:noFill/>
          </a:ln>
        </p:spPr>
        <p:txBody>
          <a:bodyPr anchorCtr="0" anchor="t" bIns="95475" lIns="95475" spcFirstLastPara="1" rIns="95475" wrap="square" tIns="95475">
            <a:normAutofit/>
          </a:bodyPr>
          <a:lstStyle>
            <a:lvl1pPr indent="-228600" lvl="0" marL="457200" algn="ctr">
              <a:lnSpc>
                <a:spcPct val="100000"/>
              </a:lnSpc>
              <a:spcBef>
                <a:spcPts val="0"/>
              </a:spcBef>
              <a:spcAft>
                <a:spcPts val="0"/>
              </a:spcAft>
              <a:buClr>
                <a:srgbClr val="595959"/>
              </a:buClr>
              <a:buSzPts val="2800"/>
              <a:buFont typeface="Poppins"/>
              <a:buNone/>
              <a:defRPr sz="2800">
                <a:solidFill>
                  <a:srgbClr val="595959"/>
                </a:solidFill>
                <a:latin typeface="Poppins"/>
                <a:ea typeface="Poppins"/>
                <a:cs typeface="Poppins"/>
                <a:sym typeface="Poppins"/>
              </a:defRPr>
            </a:lvl1pPr>
            <a:lvl2pPr indent="-228600" lvl="1" marL="914400" algn="ctr">
              <a:lnSpc>
                <a:spcPct val="100000"/>
              </a:lnSpc>
              <a:spcBef>
                <a:spcPts val="0"/>
              </a:spcBef>
              <a:spcAft>
                <a:spcPts val="0"/>
              </a:spcAft>
              <a:buClr>
                <a:srgbClr val="595959"/>
              </a:buClr>
              <a:buSzPts val="2800"/>
              <a:buFont typeface="Poppins"/>
              <a:buNone/>
              <a:defRPr sz="2800">
                <a:solidFill>
                  <a:srgbClr val="595959"/>
                </a:solidFill>
                <a:latin typeface="Poppins"/>
                <a:ea typeface="Poppins"/>
                <a:cs typeface="Poppins"/>
                <a:sym typeface="Poppins"/>
              </a:defRPr>
            </a:lvl2pPr>
            <a:lvl3pPr indent="-228600" lvl="2" marL="1371600" algn="ctr">
              <a:lnSpc>
                <a:spcPct val="100000"/>
              </a:lnSpc>
              <a:spcBef>
                <a:spcPts val="0"/>
              </a:spcBef>
              <a:spcAft>
                <a:spcPts val="0"/>
              </a:spcAft>
              <a:buClr>
                <a:srgbClr val="595959"/>
              </a:buClr>
              <a:buSzPts val="2800"/>
              <a:buFont typeface="Poppins"/>
              <a:buNone/>
              <a:defRPr sz="2800">
                <a:solidFill>
                  <a:srgbClr val="595959"/>
                </a:solidFill>
                <a:latin typeface="Poppins"/>
                <a:ea typeface="Poppins"/>
                <a:cs typeface="Poppins"/>
                <a:sym typeface="Poppins"/>
              </a:defRPr>
            </a:lvl3pPr>
            <a:lvl4pPr indent="-228600" lvl="3" marL="1828800" algn="ctr">
              <a:lnSpc>
                <a:spcPct val="100000"/>
              </a:lnSpc>
              <a:spcBef>
                <a:spcPts val="0"/>
              </a:spcBef>
              <a:spcAft>
                <a:spcPts val="0"/>
              </a:spcAft>
              <a:buClr>
                <a:srgbClr val="595959"/>
              </a:buClr>
              <a:buSzPts val="2800"/>
              <a:buFont typeface="Poppins"/>
              <a:buNone/>
              <a:defRPr sz="2800">
                <a:solidFill>
                  <a:srgbClr val="595959"/>
                </a:solidFill>
                <a:latin typeface="Poppins"/>
                <a:ea typeface="Poppins"/>
                <a:cs typeface="Poppins"/>
                <a:sym typeface="Poppins"/>
              </a:defRPr>
            </a:lvl4pPr>
            <a:lvl5pPr indent="-228600" lvl="4" marL="2286000" algn="ctr">
              <a:lnSpc>
                <a:spcPct val="100000"/>
              </a:lnSpc>
              <a:spcBef>
                <a:spcPts val="0"/>
              </a:spcBef>
              <a:spcAft>
                <a:spcPts val="0"/>
              </a:spcAft>
              <a:buClr>
                <a:srgbClr val="595959"/>
              </a:buClr>
              <a:buSzPts val="2800"/>
              <a:buFont typeface="Poppins"/>
              <a:buNone/>
              <a:defRPr sz="2800">
                <a:solidFill>
                  <a:srgbClr val="595959"/>
                </a:solidFill>
                <a:latin typeface="Poppins"/>
                <a:ea typeface="Poppins"/>
                <a:cs typeface="Poppins"/>
                <a:sym typeface="Poppins"/>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57" name="Google Shape;57;p14"/>
          <p:cNvSpPr txBox="1"/>
          <p:nvPr>
            <p:ph idx="12" type="sldNum"/>
          </p:nvPr>
        </p:nvSpPr>
        <p:spPr>
          <a:xfrm>
            <a:off x="8676174" y="4698034"/>
            <a:ext cx="344924" cy="326506"/>
          </a:xfrm>
          <a:prstGeom prst="rect">
            <a:avLst/>
          </a:prstGeom>
          <a:noFill/>
          <a:ln>
            <a:noFill/>
          </a:ln>
        </p:spPr>
        <p:txBody>
          <a:bodyPr anchorCtr="0" anchor="ctr" bIns="95475" lIns="95475" spcFirstLastPara="1" rIns="95475" wrap="square" tIns="95475">
            <a:normAutofit/>
          </a:bodyPr>
          <a:lstStyle>
            <a:lvl1pPr indent="0" lvl="0" marL="0" marR="0" algn="r">
              <a:lnSpc>
                <a:spcPct val="100000"/>
              </a:lnSpc>
              <a:spcBef>
                <a:spcPts val="0"/>
              </a:spcBef>
              <a:spcAft>
                <a:spcPts val="0"/>
              </a:spcAft>
              <a:buClr>
                <a:srgbClr val="595959"/>
              </a:buClr>
              <a:buSzPts val="1000"/>
              <a:buFont typeface="Arial"/>
              <a:buNone/>
              <a:defRPr sz="1000">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595959"/>
              </a:buClr>
              <a:buSzPts val="1000"/>
              <a:buFont typeface="Arial"/>
              <a:buNone/>
              <a:defRPr sz="1000">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595959"/>
              </a:buClr>
              <a:buSzPts val="1000"/>
              <a:buFont typeface="Arial"/>
              <a:buNone/>
              <a:defRPr sz="1000">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595959"/>
              </a:buClr>
              <a:buSzPts val="1000"/>
              <a:buFont typeface="Arial"/>
              <a:buNone/>
              <a:defRPr sz="1000">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595959"/>
              </a:buClr>
              <a:buSzPts val="1000"/>
              <a:buFont typeface="Arial"/>
              <a:buNone/>
              <a:defRPr sz="1000">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595959"/>
              </a:buClr>
              <a:buSzPts val="1000"/>
              <a:buFont typeface="Arial"/>
              <a:buNone/>
              <a:defRPr sz="1000">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595959"/>
              </a:buClr>
              <a:buSzPts val="1000"/>
              <a:buFont typeface="Arial"/>
              <a:buNone/>
              <a:defRPr sz="1000">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595959"/>
              </a:buClr>
              <a:buSzPts val="1000"/>
              <a:buFont typeface="Arial"/>
              <a:buNone/>
              <a:defRPr sz="1000">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595959"/>
              </a:buClr>
              <a:buSzPts val="1000"/>
              <a:buFont typeface="Arial"/>
              <a:buNone/>
              <a:defRPr sz="1000">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200">
              <a:solidFill>
                <a:srgbClr val="000000"/>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58" name="Shape 58"/>
        <p:cNvGrpSpPr/>
        <p:nvPr/>
      </p:nvGrpSpPr>
      <p:grpSpPr>
        <a:xfrm>
          <a:off x="0" y="0"/>
          <a:ext cx="0" cy="0"/>
          <a:chOff x="0" y="0"/>
          <a:chExt cx="0" cy="0"/>
        </a:xfrm>
      </p:grpSpPr>
      <p:sp>
        <p:nvSpPr>
          <p:cNvPr id="59" name="Google Shape;59;p15"/>
          <p:cNvSpPr txBox="1"/>
          <p:nvPr>
            <p:ph idx="12" type="sldNum"/>
          </p:nvPr>
        </p:nvSpPr>
        <p:spPr>
          <a:xfrm>
            <a:off x="4419600" y="4627562"/>
            <a:ext cx="2133600" cy="2794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Calibri"/>
              <a:buNone/>
              <a:defRPr sz="1200"/>
            </a:lvl1pPr>
            <a:lvl2pPr indent="0" lvl="1" marL="0" algn="r">
              <a:lnSpc>
                <a:spcPct val="100000"/>
              </a:lnSpc>
              <a:spcBef>
                <a:spcPts val="0"/>
              </a:spcBef>
              <a:spcAft>
                <a:spcPts val="0"/>
              </a:spcAft>
              <a:buClr>
                <a:srgbClr val="000000"/>
              </a:buClr>
              <a:buSzPts val="1200"/>
              <a:buFont typeface="Calibri"/>
              <a:buNone/>
              <a:defRPr sz="1200"/>
            </a:lvl2pPr>
            <a:lvl3pPr indent="0" lvl="2" marL="0" algn="r">
              <a:lnSpc>
                <a:spcPct val="100000"/>
              </a:lnSpc>
              <a:spcBef>
                <a:spcPts val="0"/>
              </a:spcBef>
              <a:spcAft>
                <a:spcPts val="0"/>
              </a:spcAft>
              <a:buClr>
                <a:srgbClr val="000000"/>
              </a:buClr>
              <a:buSzPts val="1200"/>
              <a:buFont typeface="Calibri"/>
              <a:buNone/>
              <a:defRPr sz="1200"/>
            </a:lvl3pPr>
            <a:lvl4pPr indent="0" lvl="3" marL="0" algn="r">
              <a:lnSpc>
                <a:spcPct val="100000"/>
              </a:lnSpc>
              <a:spcBef>
                <a:spcPts val="0"/>
              </a:spcBef>
              <a:spcAft>
                <a:spcPts val="0"/>
              </a:spcAft>
              <a:buClr>
                <a:srgbClr val="000000"/>
              </a:buClr>
              <a:buSzPts val="1200"/>
              <a:buFont typeface="Calibri"/>
              <a:buNone/>
              <a:defRPr sz="1200"/>
            </a:lvl4pPr>
            <a:lvl5pPr indent="0" lvl="4" marL="0" algn="r">
              <a:lnSpc>
                <a:spcPct val="100000"/>
              </a:lnSpc>
              <a:spcBef>
                <a:spcPts val="0"/>
              </a:spcBef>
              <a:spcAft>
                <a:spcPts val="0"/>
              </a:spcAft>
              <a:buClr>
                <a:srgbClr val="000000"/>
              </a:buClr>
              <a:buSzPts val="1200"/>
              <a:buFont typeface="Calibri"/>
              <a:buNone/>
              <a:defRPr sz="1200"/>
            </a:lvl5pPr>
            <a:lvl6pPr indent="0" lvl="5" marL="0" algn="r">
              <a:lnSpc>
                <a:spcPct val="100000"/>
              </a:lnSpc>
              <a:spcBef>
                <a:spcPts val="0"/>
              </a:spcBef>
              <a:spcAft>
                <a:spcPts val="0"/>
              </a:spcAft>
              <a:buClr>
                <a:srgbClr val="000000"/>
              </a:buClr>
              <a:buSzPts val="1200"/>
              <a:buFont typeface="Calibri"/>
              <a:buNone/>
              <a:defRPr sz="1200"/>
            </a:lvl6pPr>
            <a:lvl7pPr indent="0" lvl="6" marL="0" algn="r">
              <a:lnSpc>
                <a:spcPct val="100000"/>
              </a:lnSpc>
              <a:spcBef>
                <a:spcPts val="0"/>
              </a:spcBef>
              <a:spcAft>
                <a:spcPts val="0"/>
              </a:spcAft>
              <a:buClr>
                <a:srgbClr val="000000"/>
              </a:buClr>
              <a:buSzPts val="1200"/>
              <a:buFont typeface="Calibri"/>
              <a:buNone/>
              <a:defRPr sz="1200"/>
            </a:lvl7pPr>
            <a:lvl8pPr indent="0" lvl="7" marL="0" algn="r">
              <a:lnSpc>
                <a:spcPct val="100000"/>
              </a:lnSpc>
              <a:spcBef>
                <a:spcPts val="0"/>
              </a:spcBef>
              <a:spcAft>
                <a:spcPts val="0"/>
              </a:spcAft>
              <a:buClr>
                <a:srgbClr val="000000"/>
              </a:buClr>
              <a:buSzPts val="1200"/>
              <a:buFont typeface="Calibri"/>
              <a:buNone/>
              <a:defRPr sz="1200"/>
            </a:lvl8pPr>
            <a:lvl9pPr indent="0" lvl="8" marL="0" algn="r">
              <a:lnSpc>
                <a:spcPct val="100000"/>
              </a:lnSpc>
              <a:spcBef>
                <a:spcPts val="0"/>
              </a:spcBef>
              <a:spcAft>
                <a:spcPts val="0"/>
              </a:spcAft>
              <a:buClr>
                <a:srgbClr val="000000"/>
              </a:buClr>
              <a:buSzPts val="1200"/>
              <a:buFont typeface="Calibri"/>
              <a:buNone/>
              <a:defRPr sz="12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69056"/>
            <a:ext cx="8229600" cy="1131094"/>
          </a:xfrm>
          <a:prstGeom prst="rect">
            <a:avLst/>
          </a:prstGeom>
          <a:noFill/>
          <a:ln>
            <a:noFill/>
          </a:ln>
        </p:spPr>
        <p:txBody>
          <a:bodyPr anchorCtr="0" anchor="ctr" bIns="45700" lIns="45700" spcFirstLastPara="1" rIns="45700" wrap="square" tIns="45700">
            <a:noAutofit/>
          </a:bodyPr>
          <a:lstStyle>
            <a:lvl1pPr lvl="0"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52" name="Google Shape;52;p13"/>
          <p:cNvSpPr txBox="1"/>
          <p:nvPr>
            <p:ph idx="1" type="body"/>
          </p:nvPr>
        </p:nvSpPr>
        <p:spPr>
          <a:xfrm>
            <a:off x="457200" y="1200150"/>
            <a:ext cx="8229600" cy="3943350"/>
          </a:xfrm>
          <a:prstGeom prst="rect">
            <a:avLst/>
          </a:prstGeom>
          <a:noFill/>
          <a:ln>
            <a:noFill/>
          </a:ln>
        </p:spPr>
        <p:txBody>
          <a:bodyPr anchorCtr="0" anchor="t" bIns="45700" lIns="45700" spcFirstLastPara="1" rIns="45700" wrap="square" tIns="45700">
            <a:noAutofit/>
          </a:bodyPr>
          <a:lstStyle>
            <a:lvl1pPr indent="-431800" lvl="0" marL="457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1pPr>
            <a:lvl2pPr indent="-431800" lvl="1" marL="914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2pPr>
            <a:lvl3pPr indent="-431800" lvl="2" marL="1371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3pPr>
            <a:lvl4pPr indent="-431800" lvl="3" marL="1828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4pPr>
            <a:lvl5pPr indent="-431800" lvl="4" marL="22860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5pPr>
            <a:lvl6pPr indent="-431800" lvl="5" marL="2743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6pPr>
            <a:lvl7pPr indent="-431800" lvl="6" marL="3200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7pPr>
            <a:lvl8pPr indent="-431800" lvl="7" marL="3657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8pPr>
            <a:lvl9pPr indent="-431800" lvl="8" marL="4114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9pPr>
          </a:lstStyle>
          <a:p/>
        </p:txBody>
      </p:sp>
      <p:sp>
        <p:nvSpPr>
          <p:cNvPr id="53" name="Google Shape;53;p13"/>
          <p:cNvSpPr txBox="1"/>
          <p:nvPr>
            <p:ph idx="12" type="sldNum"/>
          </p:nvPr>
        </p:nvSpPr>
        <p:spPr>
          <a:xfrm>
            <a:off x="4419600" y="4627562"/>
            <a:ext cx="2133600" cy="279401"/>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github.com/otel-industrial/otel-industrial-community" TargetMode="External"/><Relationship Id="rId4" Type="http://schemas.openxmlformats.org/officeDocument/2006/relationships/hyperlink" Target="https://github.com/otel-industrial/otel-industrial-community" TargetMode="External"/><Relationship Id="rId5" Type="http://schemas.openxmlformats.org/officeDocument/2006/relationships/hyperlink" Target="https://github.com/otel-industrial/otel-industrial-communit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s://opentelemetry.io/docs/specs/semconv/genera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hyperlink" Target="https://github.com/lukaszciukaj/industrial-observability-whitepaper"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34EBF"/>
            </a:gs>
            <a:gs pos="100000">
              <a:srgbClr val="2C3E89"/>
            </a:gs>
          </a:gsLst>
          <a:lin ang="5400011" scaled="0"/>
        </a:gradFill>
      </p:bgPr>
    </p:bg>
    <p:spTree>
      <p:nvGrpSpPr>
        <p:cNvPr id="63" name="Shape 63"/>
        <p:cNvGrpSpPr/>
        <p:nvPr/>
      </p:nvGrpSpPr>
      <p:grpSpPr>
        <a:xfrm>
          <a:off x="0" y="0"/>
          <a:ext cx="0" cy="0"/>
          <a:chOff x="0" y="0"/>
          <a:chExt cx="0" cy="0"/>
        </a:xfrm>
      </p:grpSpPr>
      <p:sp>
        <p:nvSpPr>
          <p:cNvPr id="64" name="Google Shape;64;p16"/>
          <p:cNvSpPr/>
          <p:nvPr/>
        </p:nvSpPr>
        <p:spPr>
          <a:xfrm>
            <a:off x="6121079" y="1547068"/>
            <a:ext cx="2049300" cy="2049300"/>
          </a:xfrm>
          <a:prstGeom prst="ellipse">
            <a:avLst/>
          </a:prstGeom>
          <a:solidFill>
            <a:srgbClr val="FDFDF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5" name="Google Shape;65;p16"/>
          <p:cNvSpPr txBox="1"/>
          <p:nvPr/>
        </p:nvSpPr>
        <p:spPr>
          <a:xfrm>
            <a:off x="206566" y="1600000"/>
            <a:ext cx="5400000" cy="65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3600"/>
              <a:buFont typeface="Poppins"/>
              <a:buNone/>
            </a:pPr>
            <a:r>
              <a:rPr b="1" i="0" lang="en" sz="3600" u="none" cap="none" strike="noStrike">
                <a:solidFill>
                  <a:srgbClr val="FFFFFF"/>
                </a:solidFill>
                <a:latin typeface="Poppins"/>
                <a:ea typeface="Poppins"/>
                <a:cs typeface="Poppins"/>
                <a:sym typeface="Poppins"/>
              </a:rPr>
              <a:t>OpenTelemetry</a:t>
            </a:r>
            <a:endParaRPr/>
          </a:p>
        </p:txBody>
      </p:sp>
      <p:sp>
        <p:nvSpPr>
          <p:cNvPr id="66" name="Google Shape;66;p16"/>
          <p:cNvSpPr txBox="1"/>
          <p:nvPr/>
        </p:nvSpPr>
        <p:spPr>
          <a:xfrm>
            <a:off x="206566" y="2250000"/>
            <a:ext cx="5400000" cy="65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3600"/>
              <a:buFont typeface="Poppins"/>
              <a:buNone/>
            </a:pPr>
            <a:r>
              <a:rPr b="1" i="0" lang="en" sz="3600" u="none" cap="none" strike="noStrike">
                <a:solidFill>
                  <a:srgbClr val="F5A800"/>
                </a:solidFill>
                <a:latin typeface="Poppins"/>
                <a:ea typeface="Poppins"/>
                <a:cs typeface="Poppins"/>
                <a:sym typeface="Poppins"/>
              </a:rPr>
              <a:t>Industrial</a:t>
            </a:r>
            <a:endParaRPr/>
          </a:p>
        </p:txBody>
      </p:sp>
      <p:sp>
        <p:nvSpPr>
          <p:cNvPr id="67" name="Google Shape;67;p16"/>
          <p:cNvSpPr txBox="1"/>
          <p:nvPr/>
        </p:nvSpPr>
        <p:spPr>
          <a:xfrm>
            <a:off x="206566" y="2950000"/>
            <a:ext cx="54000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800"/>
              <a:buFont typeface="Poppins"/>
              <a:buNone/>
            </a:pPr>
            <a:r>
              <a:rPr lang="en" sz="1800">
                <a:solidFill>
                  <a:srgbClr val="FFFFFF"/>
                </a:solidFill>
                <a:latin typeface="Poppins"/>
                <a:ea typeface="Poppins"/>
                <a:cs typeface="Poppins"/>
                <a:sym typeface="Poppins"/>
              </a:rPr>
              <a:t>Community Overview &amp; Technical Vision</a:t>
            </a:r>
            <a:endParaRPr/>
          </a:p>
        </p:txBody>
      </p:sp>
      <p:sp>
        <p:nvSpPr>
          <p:cNvPr id="68" name="Google Shape;68;p16"/>
          <p:cNvSpPr/>
          <p:nvPr/>
        </p:nvSpPr>
        <p:spPr>
          <a:xfrm>
            <a:off x="206566" y="3500000"/>
            <a:ext cx="320000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 name="Google Shape;69;p16"/>
          <p:cNvSpPr txBox="1"/>
          <p:nvPr/>
        </p:nvSpPr>
        <p:spPr>
          <a:xfrm>
            <a:off x="310690" y="3650000"/>
            <a:ext cx="3749041" cy="30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500"/>
              <a:buFont typeface="Poppins"/>
              <a:buNone/>
            </a:pPr>
            <a:r>
              <a:rPr b="1" i="0" lang="en" sz="1500" u="none" cap="none" strike="noStrike">
                <a:solidFill>
                  <a:srgbClr val="FFFFFF"/>
                </a:solidFill>
                <a:latin typeface="Poppins"/>
                <a:ea typeface="Poppins"/>
                <a:cs typeface="Poppins"/>
                <a:sym typeface="Poppins"/>
              </a:rPr>
              <a:t>Lukasz Ciukaj</a:t>
            </a:r>
            <a:endParaRPr/>
          </a:p>
        </p:txBody>
      </p:sp>
      <p:sp>
        <p:nvSpPr>
          <p:cNvPr id="70" name="Google Shape;70;p16"/>
          <p:cNvSpPr txBox="1"/>
          <p:nvPr/>
        </p:nvSpPr>
        <p:spPr>
          <a:xfrm>
            <a:off x="310690" y="4000000"/>
            <a:ext cx="37491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0" i="0" lang="en" sz="1200" u="none" cap="none" strike="noStrike">
                <a:solidFill>
                  <a:srgbClr val="F5A800"/>
                </a:solidFill>
                <a:latin typeface="Poppins"/>
                <a:ea typeface="Poppins"/>
                <a:cs typeface="Poppins"/>
                <a:sym typeface="Poppins"/>
              </a:rPr>
              <a:t>github.com/otel-industrial</a:t>
            </a:r>
            <a:endParaRPr sz="1200">
              <a:solidFill>
                <a:srgbClr val="F5A800"/>
              </a:solidFill>
              <a:latin typeface="Poppins"/>
              <a:ea typeface="Poppins"/>
              <a:cs typeface="Poppins"/>
              <a:sym typeface="Poppins"/>
            </a:endParaRPr>
          </a:p>
        </p:txBody>
      </p:sp>
      <p:pic>
        <p:nvPicPr>
          <p:cNvPr id="71" name="Google Shape;71;p16"/>
          <p:cNvPicPr preferRelativeResize="0"/>
          <p:nvPr/>
        </p:nvPicPr>
        <p:blipFill>
          <a:blip r:embed="rId3">
            <a:alphaModFix/>
          </a:blip>
          <a:stretch>
            <a:fillRect/>
          </a:stretch>
        </p:blipFill>
        <p:spPr>
          <a:xfrm>
            <a:off x="6378253" y="1793074"/>
            <a:ext cx="1489900" cy="1489900"/>
          </a:xfrm>
          <a:prstGeom prst="rect">
            <a:avLst/>
          </a:prstGeom>
          <a:noFill/>
          <a:ln>
            <a:noFill/>
          </a:ln>
        </p:spPr>
      </p:pic>
      <p:pic>
        <p:nvPicPr>
          <p:cNvPr id="72" name="Google Shape;72;p16"/>
          <p:cNvPicPr preferRelativeResize="0"/>
          <p:nvPr/>
        </p:nvPicPr>
        <p:blipFill>
          <a:blip r:embed="rId4">
            <a:alphaModFix/>
          </a:blip>
          <a:stretch>
            <a:fillRect/>
          </a:stretch>
        </p:blipFill>
        <p:spPr>
          <a:xfrm>
            <a:off x="6453168" y="1864128"/>
            <a:ext cx="1385125" cy="1385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76" name="Shape 76"/>
        <p:cNvGrpSpPr/>
        <p:nvPr/>
      </p:nvGrpSpPr>
      <p:grpSpPr>
        <a:xfrm>
          <a:off x="0" y="0"/>
          <a:ext cx="0" cy="0"/>
          <a:chOff x="0" y="0"/>
          <a:chExt cx="0" cy="0"/>
        </a:xfrm>
      </p:grpSpPr>
      <p:sp>
        <p:nvSpPr>
          <p:cNvPr id="77" name="Google Shape;77;p17"/>
          <p:cNvSpPr txBox="1"/>
          <p:nvPr/>
        </p:nvSpPr>
        <p:spPr>
          <a:xfrm>
            <a:off x="320040" y="550000"/>
            <a:ext cx="8503920" cy="43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i="0" lang="en" sz="2600" u="none" cap="none" strike="noStrike">
                <a:solidFill>
                  <a:srgbClr val="FFFFFF"/>
                </a:solidFill>
                <a:latin typeface="Poppins"/>
                <a:ea typeface="Poppins"/>
                <a:cs typeface="Poppins"/>
                <a:sym typeface="Poppins"/>
              </a:rPr>
              <a:t>Agenda</a:t>
            </a:r>
            <a:endParaRPr/>
          </a:p>
        </p:txBody>
      </p:sp>
      <p:sp>
        <p:nvSpPr>
          <p:cNvPr id="78" name="Google Shape;78;p17"/>
          <p:cNvSpPr/>
          <p:nvPr/>
        </p:nvSpPr>
        <p:spPr>
          <a:xfrm>
            <a:off x="320040" y="1100000"/>
            <a:ext cx="850392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 name="Google Shape;79;p17"/>
          <p:cNvSpPr/>
          <p:nvPr/>
        </p:nvSpPr>
        <p:spPr>
          <a:xfrm>
            <a:off x="320040" y="1207008"/>
            <a:ext cx="4206241" cy="1115568"/>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0" name="Google Shape;80;p17"/>
          <p:cNvSpPr txBox="1"/>
          <p:nvPr/>
        </p:nvSpPr>
        <p:spPr>
          <a:xfrm>
            <a:off x="475040" y="1577008"/>
            <a:ext cx="600000" cy="38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2200"/>
              <a:buFont typeface="Poppins"/>
              <a:buNone/>
            </a:pPr>
            <a:r>
              <a:rPr b="1" i="0" lang="en" sz="2200" u="none" cap="none" strike="noStrike">
                <a:solidFill>
                  <a:srgbClr val="F5A800"/>
                </a:solidFill>
                <a:latin typeface="Poppins"/>
                <a:ea typeface="Poppins"/>
                <a:cs typeface="Poppins"/>
                <a:sym typeface="Poppins"/>
              </a:rPr>
              <a:t>01</a:t>
            </a:r>
            <a:endParaRPr/>
          </a:p>
        </p:txBody>
      </p:sp>
      <p:sp>
        <p:nvSpPr>
          <p:cNvPr id="81" name="Google Shape;81;p17"/>
          <p:cNvSpPr txBox="1"/>
          <p:nvPr/>
        </p:nvSpPr>
        <p:spPr>
          <a:xfrm>
            <a:off x="1200040" y="1387008"/>
            <a:ext cx="3266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300"/>
              <a:buFont typeface="Poppins"/>
              <a:buNone/>
            </a:pPr>
            <a:r>
              <a:rPr b="1" lang="en" sz="1300">
                <a:solidFill>
                  <a:srgbClr val="FFFFFF"/>
                </a:solidFill>
                <a:latin typeface="Poppins"/>
                <a:ea typeface="Poppins"/>
                <a:cs typeface="Poppins"/>
                <a:sym typeface="Poppins"/>
              </a:rPr>
              <a:t>OpenTelemetry Industrial</a:t>
            </a:r>
            <a:endParaRPr/>
          </a:p>
        </p:txBody>
      </p:sp>
      <p:sp>
        <p:nvSpPr>
          <p:cNvPr id="82" name="Google Shape;82;p17"/>
          <p:cNvSpPr txBox="1"/>
          <p:nvPr/>
        </p:nvSpPr>
        <p:spPr>
          <a:xfrm>
            <a:off x="1200040" y="1907008"/>
            <a:ext cx="32661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000"/>
              <a:buFont typeface="Poppins"/>
              <a:buNone/>
            </a:pPr>
            <a:r>
              <a:rPr lang="en" sz="1000">
                <a:solidFill>
                  <a:srgbClr val="F5A800"/>
                </a:solidFill>
                <a:latin typeface="Poppins"/>
                <a:ea typeface="Poppins"/>
                <a:cs typeface="Poppins"/>
                <a:sym typeface="Poppins"/>
              </a:rPr>
              <a:t>Community overview, mission &amp; projects</a:t>
            </a:r>
            <a:endParaRPr/>
          </a:p>
        </p:txBody>
      </p:sp>
      <p:sp>
        <p:nvSpPr>
          <p:cNvPr id="83" name="Google Shape;83;p17"/>
          <p:cNvSpPr/>
          <p:nvPr/>
        </p:nvSpPr>
        <p:spPr>
          <a:xfrm>
            <a:off x="320040" y="2468879"/>
            <a:ext cx="4206300" cy="1115700"/>
          </a:xfrm>
          <a:prstGeom prst="roundRect">
            <a:avLst>
              <a:gd fmla="val 8197" name="adj"/>
            </a:avLst>
          </a:prstGeom>
          <a:solidFill>
            <a:srgbClr val="FFFFFF">
              <a:alpha val="10200"/>
            </a:srgbClr>
          </a:solidFill>
          <a:ln cap="flat" cmpd="sng" w="9525">
            <a:solidFill>
              <a:srgbClr val="FFFFFF">
                <a:alpha val="34900"/>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 name="Google Shape;84;p17"/>
          <p:cNvSpPr txBox="1"/>
          <p:nvPr/>
        </p:nvSpPr>
        <p:spPr>
          <a:xfrm>
            <a:off x="475040" y="2838879"/>
            <a:ext cx="600000" cy="38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2200"/>
              <a:buFont typeface="Poppins"/>
              <a:buNone/>
            </a:pPr>
            <a:r>
              <a:rPr b="1" i="0" lang="en" sz="2200" u="none" cap="none" strike="noStrike">
                <a:solidFill>
                  <a:srgbClr val="F5A800"/>
                </a:solidFill>
                <a:latin typeface="Poppins"/>
                <a:ea typeface="Poppins"/>
                <a:cs typeface="Poppins"/>
                <a:sym typeface="Poppins"/>
              </a:rPr>
              <a:t>02</a:t>
            </a:r>
            <a:endParaRPr/>
          </a:p>
        </p:txBody>
      </p:sp>
      <p:sp>
        <p:nvSpPr>
          <p:cNvPr id="85" name="Google Shape;85;p17"/>
          <p:cNvSpPr txBox="1"/>
          <p:nvPr/>
        </p:nvSpPr>
        <p:spPr>
          <a:xfrm>
            <a:off x="1200040" y="2648879"/>
            <a:ext cx="3266241" cy="26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300"/>
              <a:buFont typeface="Poppins"/>
              <a:buNone/>
            </a:pPr>
            <a:r>
              <a:rPr b="1" i="0" lang="en" sz="1300" u="none" cap="none" strike="noStrike">
                <a:solidFill>
                  <a:srgbClr val="FFFFFF"/>
                </a:solidFill>
                <a:latin typeface="Poppins"/>
                <a:ea typeface="Poppins"/>
                <a:cs typeface="Poppins"/>
                <a:sym typeface="Poppins"/>
              </a:rPr>
              <a:t>Community Resources</a:t>
            </a:r>
            <a:endParaRPr/>
          </a:p>
        </p:txBody>
      </p:sp>
      <p:sp>
        <p:nvSpPr>
          <p:cNvPr id="86" name="Google Shape;86;p17"/>
          <p:cNvSpPr txBox="1"/>
          <p:nvPr/>
        </p:nvSpPr>
        <p:spPr>
          <a:xfrm>
            <a:off x="1200040" y="3168879"/>
            <a:ext cx="3266241" cy="20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000"/>
              <a:buFont typeface="Poppins"/>
              <a:buNone/>
            </a:pPr>
            <a:r>
              <a:rPr b="0" i="0" lang="en" sz="1000" u="none" cap="none" strike="noStrike">
                <a:solidFill>
                  <a:srgbClr val="F5A800"/>
                </a:solidFill>
                <a:latin typeface="Poppins"/>
                <a:ea typeface="Poppins"/>
                <a:cs typeface="Poppins"/>
                <a:sym typeface="Poppins"/>
              </a:rPr>
              <a:t>GitHub, Slack, projects</a:t>
            </a:r>
            <a:endParaRPr/>
          </a:p>
        </p:txBody>
      </p:sp>
      <p:sp>
        <p:nvSpPr>
          <p:cNvPr id="87" name="Google Shape;87;p17"/>
          <p:cNvSpPr/>
          <p:nvPr/>
        </p:nvSpPr>
        <p:spPr>
          <a:xfrm>
            <a:off x="320040" y="3730752"/>
            <a:ext cx="4206241" cy="1115568"/>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 name="Google Shape;88;p17"/>
          <p:cNvSpPr txBox="1"/>
          <p:nvPr/>
        </p:nvSpPr>
        <p:spPr>
          <a:xfrm>
            <a:off x="475040" y="4100752"/>
            <a:ext cx="600000" cy="38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2200"/>
              <a:buFont typeface="Poppins"/>
              <a:buNone/>
            </a:pPr>
            <a:r>
              <a:rPr b="1" i="0" lang="en" sz="2200" u="none" cap="none" strike="noStrike">
                <a:solidFill>
                  <a:srgbClr val="F5A800"/>
                </a:solidFill>
                <a:latin typeface="Poppins"/>
                <a:ea typeface="Poppins"/>
                <a:cs typeface="Poppins"/>
                <a:sym typeface="Poppins"/>
              </a:rPr>
              <a:t>03</a:t>
            </a:r>
            <a:endParaRPr/>
          </a:p>
        </p:txBody>
      </p:sp>
      <p:sp>
        <p:nvSpPr>
          <p:cNvPr id="89" name="Google Shape;89;p17"/>
          <p:cNvSpPr txBox="1"/>
          <p:nvPr/>
        </p:nvSpPr>
        <p:spPr>
          <a:xfrm>
            <a:off x="1200040" y="3910752"/>
            <a:ext cx="3266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300"/>
              <a:buFont typeface="Poppins"/>
              <a:buNone/>
            </a:pPr>
            <a:r>
              <a:rPr b="1" lang="en" sz="1300">
                <a:solidFill>
                  <a:srgbClr val="FFFFFF"/>
                </a:solidFill>
                <a:latin typeface="Poppins"/>
                <a:ea typeface="Poppins"/>
                <a:cs typeface="Poppins"/>
                <a:sym typeface="Poppins"/>
              </a:rPr>
              <a:t>Roadmap</a:t>
            </a:r>
            <a:endParaRPr/>
          </a:p>
        </p:txBody>
      </p:sp>
      <p:sp>
        <p:nvSpPr>
          <p:cNvPr id="90" name="Google Shape;90;p17"/>
          <p:cNvSpPr txBox="1"/>
          <p:nvPr/>
        </p:nvSpPr>
        <p:spPr>
          <a:xfrm>
            <a:off x="1200040" y="4430752"/>
            <a:ext cx="32661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000"/>
              <a:buFont typeface="Poppins"/>
              <a:buNone/>
            </a:pPr>
            <a:r>
              <a:rPr lang="en" sz="1000">
                <a:solidFill>
                  <a:srgbClr val="F5A800"/>
                </a:solidFill>
                <a:latin typeface="Poppins"/>
                <a:ea typeface="Poppins"/>
                <a:cs typeface="Poppins"/>
                <a:sym typeface="Poppins"/>
              </a:rPr>
              <a:t>Vision and future direction</a:t>
            </a:r>
            <a:endParaRPr/>
          </a:p>
        </p:txBody>
      </p:sp>
      <p:sp>
        <p:nvSpPr>
          <p:cNvPr id="91" name="Google Shape;91;p17"/>
          <p:cNvSpPr/>
          <p:nvPr/>
        </p:nvSpPr>
        <p:spPr>
          <a:xfrm>
            <a:off x="4727447" y="1207008"/>
            <a:ext cx="4206241" cy="1115568"/>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 name="Google Shape;92;p17"/>
          <p:cNvSpPr txBox="1"/>
          <p:nvPr/>
        </p:nvSpPr>
        <p:spPr>
          <a:xfrm>
            <a:off x="4882447" y="1577008"/>
            <a:ext cx="600000" cy="38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2200"/>
              <a:buFont typeface="Poppins"/>
              <a:buNone/>
            </a:pPr>
            <a:r>
              <a:rPr b="1" i="0" lang="en" sz="2200" u="none" cap="none" strike="noStrike">
                <a:solidFill>
                  <a:srgbClr val="F5A800"/>
                </a:solidFill>
                <a:latin typeface="Poppins"/>
                <a:ea typeface="Poppins"/>
                <a:cs typeface="Poppins"/>
                <a:sym typeface="Poppins"/>
              </a:rPr>
              <a:t>04</a:t>
            </a:r>
            <a:endParaRPr/>
          </a:p>
        </p:txBody>
      </p:sp>
      <p:sp>
        <p:nvSpPr>
          <p:cNvPr id="93" name="Google Shape;93;p17"/>
          <p:cNvSpPr txBox="1"/>
          <p:nvPr/>
        </p:nvSpPr>
        <p:spPr>
          <a:xfrm>
            <a:off x="5607447" y="1387008"/>
            <a:ext cx="3266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300"/>
              <a:buFont typeface="Poppins"/>
              <a:buNone/>
            </a:pPr>
            <a:r>
              <a:rPr b="1" lang="en" sz="1300">
                <a:solidFill>
                  <a:srgbClr val="FFFFFF"/>
                </a:solidFill>
                <a:latin typeface="Poppins"/>
                <a:ea typeface="Poppins"/>
                <a:cs typeface="Poppins"/>
                <a:sym typeface="Poppins"/>
              </a:rPr>
              <a:t>Integration Models</a:t>
            </a:r>
            <a:endParaRPr/>
          </a:p>
        </p:txBody>
      </p:sp>
      <p:sp>
        <p:nvSpPr>
          <p:cNvPr id="94" name="Google Shape;94;p17"/>
          <p:cNvSpPr txBox="1"/>
          <p:nvPr/>
        </p:nvSpPr>
        <p:spPr>
          <a:xfrm>
            <a:off x="5607447" y="1907008"/>
            <a:ext cx="32661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000"/>
              <a:buFont typeface="Poppins"/>
              <a:buNone/>
            </a:pPr>
            <a:r>
              <a:rPr lang="en" sz="1000">
                <a:solidFill>
                  <a:srgbClr val="F5A800"/>
                </a:solidFill>
                <a:latin typeface="Poppins"/>
                <a:ea typeface="Poppins"/>
                <a:cs typeface="Poppins"/>
                <a:sym typeface="Poppins"/>
              </a:rPr>
              <a:t>How industrial data reaches OpenTelemetry</a:t>
            </a:r>
            <a:endParaRPr/>
          </a:p>
        </p:txBody>
      </p:sp>
      <p:sp>
        <p:nvSpPr>
          <p:cNvPr id="95" name="Google Shape;95;p17"/>
          <p:cNvSpPr/>
          <p:nvPr/>
        </p:nvSpPr>
        <p:spPr>
          <a:xfrm>
            <a:off x="4727447" y="2468879"/>
            <a:ext cx="4206241" cy="1115568"/>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 name="Google Shape;96;p17"/>
          <p:cNvSpPr txBox="1"/>
          <p:nvPr/>
        </p:nvSpPr>
        <p:spPr>
          <a:xfrm>
            <a:off x="4882447" y="2838879"/>
            <a:ext cx="600000" cy="38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2200"/>
              <a:buFont typeface="Poppins"/>
              <a:buNone/>
            </a:pPr>
            <a:r>
              <a:rPr b="1" i="0" lang="en" sz="2200" u="none" cap="none" strike="noStrike">
                <a:solidFill>
                  <a:srgbClr val="F5A800"/>
                </a:solidFill>
                <a:latin typeface="Poppins"/>
                <a:ea typeface="Poppins"/>
                <a:cs typeface="Poppins"/>
                <a:sym typeface="Poppins"/>
              </a:rPr>
              <a:t>05</a:t>
            </a:r>
            <a:endParaRPr/>
          </a:p>
        </p:txBody>
      </p:sp>
      <p:sp>
        <p:nvSpPr>
          <p:cNvPr id="97" name="Google Shape;97;p17"/>
          <p:cNvSpPr txBox="1"/>
          <p:nvPr/>
        </p:nvSpPr>
        <p:spPr>
          <a:xfrm>
            <a:off x="5607447" y="2648879"/>
            <a:ext cx="3266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300"/>
              <a:buFont typeface="Poppins"/>
              <a:buNone/>
            </a:pPr>
            <a:r>
              <a:rPr b="1" lang="en" sz="1300">
                <a:solidFill>
                  <a:srgbClr val="FFFFFF"/>
                </a:solidFill>
                <a:latin typeface="Poppins"/>
                <a:ea typeface="Poppins"/>
                <a:cs typeface="Poppins"/>
                <a:sym typeface="Poppins"/>
              </a:rPr>
              <a:t>OpenTelemetry Collector</a:t>
            </a:r>
            <a:endParaRPr/>
          </a:p>
        </p:txBody>
      </p:sp>
      <p:sp>
        <p:nvSpPr>
          <p:cNvPr id="98" name="Google Shape;98;p17"/>
          <p:cNvSpPr txBox="1"/>
          <p:nvPr/>
        </p:nvSpPr>
        <p:spPr>
          <a:xfrm>
            <a:off x="5607447" y="3168879"/>
            <a:ext cx="32661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000"/>
              <a:buFont typeface="Poppins"/>
              <a:buNone/>
            </a:pPr>
            <a:r>
              <a:rPr lang="en" sz="1000">
                <a:solidFill>
                  <a:srgbClr val="F5A800"/>
                </a:solidFill>
                <a:latin typeface="Poppins"/>
                <a:ea typeface="Poppins"/>
                <a:cs typeface="Poppins"/>
                <a:sym typeface="Poppins"/>
              </a:rPr>
              <a:t>Architecture and data flow</a:t>
            </a:r>
            <a:endParaRPr/>
          </a:p>
        </p:txBody>
      </p:sp>
      <p:sp>
        <p:nvSpPr>
          <p:cNvPr id="99" name="Google Shape;99;p17"/>
          <p:cNvSpPr/>
          <p:nvPr/>
        </p:nvSpPr>
        <p:spPr>
          <a:xfrm>
            <a:off x="4727447" y="3730752"/>
            <a:ext cx="4206300" cy="1115700"/>
          </a:xfrm>
          <a:prstGeom prst="roundRect">
            <a:avLst>
              <a:gd fmla="val 8197" name="adj"/>
            </a:avLst>
          </a:prstGeom>
          <a:solidFill>
            <a:srgbClr val="FFFFFF">
              <a:alpha val="10200"/>
            </a:srgbClr>
          </a:solidFill>
          <a:ln cap="flat" cmpd="sng" w="9525">
            <a:solidFill>
              <a:srgbClr val="FFFFFF">
                <a:alpha val="34900"/>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0" name="Google Shape;100;p17"/>
          <p:cNvSpPr txBox="1"/>
          <p:nvPr/>
        </p:nvSpPr>
        <p:spPr>
          <a:xfrm>
            <a:off x="4882447" y="4100752"/>
            <a:ext cx="600000" cy="38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2200"/>
              <a:buFont typeface="Poppins"/>
              <a:buNone/>
            </a:pPr>
            <a:r>
              <a:rPr b="1" i="0" lang="en" sz="2200" u="none" cap="none" strike="noStrike">
                <a:solidFill>
                  <a:srgbClr val="F5A800"/>
                </a:solidFill>
                <a:latin typeface="Poppins"/>
                <a:ea typeface="Poppins"/>
                <a:cs typeface="Poppins"/>
                <a:sym typeface="Poppins"/>
              </a:rPr>
              <a:t>06</a:t>
            </a:r>
            <a:endParaRPr/>
          </a:p>
        </p:txBody>
      </p:sp>
      <p:sp>
        <p:nvSpPr>
          <p:cNvPr id="101" name="Google Shape;101;p17"/>
          <p:cNvSpPr txBox="1"/>
          <p:nvPr/>
        </p:nvSpPr>
        <p:spPr>
          <a:xfrm>
            <a:off x="5607447" y="3910752"/>
            <a:ext cx="3266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300"/>
              <a:buFont typeface="Poppins"/>
              <a:buNone/>
            </a:pPr>
            <a:r>
              <a:rPr b="1" lang="en" sz="1300">
                <a:solidFill>
                  <a:srgbClr val="FFFFFF"/>
                </a:solidFill>
                <a:latin typeface="Poppins"/>
                <a:ea typeface="Poppins"/>
                <a:cs typeface="Poppins"/>
                <a:sym typeface="Poppins"/>
              </a:rPr>
              <a:t>Semantic Conventions</a:t>
            </a:r>
            <a:endParaRPr/>
          </a:p>
        </p:txBody>
      </p:sp>
      <p:sp>
        <p:nvSpPr>
          <p:cNvPr id="102" name="Google Shape;102;p17"/>
          <p:cNvSpPr txBox="1"/>
          <p:nvPr/>
        </p:nvSpPr>
        <p:spPr>
          <a:xfrm>
            <a:off x="5607447" y="4430752"/>
            <a:ext cx="32661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000"/>
              <a:buFont typeface="Poppins"/>
              <a:buNone/>
            </a:pPr>
            <a:r>
              <a:rPr lang="en" sz="1000">
                <a:solidFill>
                  <a:srgbClr val="F5A800"/>
                </a:solidFill>
                <a:latin typeface="Poppins"/>
                <a:ea typeface="Poppins"/>
                <a:cs typeface="Poppins"/>
                <a:sym typeface="Poppins"/>
              </a:rPr>
              <a:t>Standardizing industrial telemetry</a:t>
            </a:r>
            <a:endParaRPr/>
          </a:p>
        </p:txBody>
      </p:sp>
      <p:sp>
        <p:nvSpPr>
          <p:cNvPr id="103" name="Google Shape;103;p17"/>
          <p:cNvSpPr txBox="1"/>
          <p:nvPr/>
        </p:nvSpPr>
        <p:spPr>
          <a:xfrm>
            <a:off x="320040" y="258572"/>
            <a:ext cx="85038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lang="en" sz="1200">
                <a:solidFill>
                  <a:srgbClr val="F5A800"/>
                </a:solidFill>
                <a:latin typeface="Poppins"/>
                <a:ea typeface="Poppins"/>
                <a:cs typeface="Poppins"/>
                <a:sym typeface="Poppins"/>
              </a:rPr>
              <a:t>Today's Discussion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107" name="Shape 107"/>
        <p:cNvGrpSpPr/>
        <p:nvPr/>
      </p:nvGrpSpPr>
      <p:grpSpPr>
        <a:xfrm>
          <a:off x="0" y="0"/>
          <a:ext cx="0" cy="0"/>
          <a:chOff x="0" y="0"/>
          <a:chExt cx="0" cy="0"/>
        </a:xfrm>
      </p:grpSpPr>
      <p:sp>
        <p:nvSpPr>
          <p:cNvPr id="108" name="Google Shape;108;p18"/>
          <p:cNvSpPr txBox="1"/>
          <p:nvPr/>
        </p:nvSpPr>
        <p:spPr>
          <a:xfrm>
            <a:off x="320040" y="550000"/>
            <a:ext cx="8503800" cy="400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i="0" lang="en" sz="2600" u="none" cap="none" strike="noStrike">
                <a:solidFill>
                  <a:srgbClr val="FFFFFF"/>
                </a:solidFill>
                <a:latin typeface="Poppins"/>
                <a:ea typeface="Poppins"/>
                <a:cs typeface="Poppins"/>
                <a:sym typeface="Poppins"/>
              </a:rPr>
              <a:t>What is OpenTelemetry Industrial community?</a:t>
            </a:r>
            <a:endParaRPr/>
          </a:p>
        </p:txBody>
      </p:sp>
      <p:sp>
        <p:nvSpPr>
          <p:cNvPr id="109" name="Google Shape;109;p18"/>
          <p:cNvSpPr/>
          <p:nvPr/>
        </p:nvSpPr>
        <p:spPr>
          <a:xfrm>
            <a:off x="320040" y="1100000"/>
            <a:ext cx="850392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 name="Google Shape;110;p18"/>
          <p:cNvSpPr/>
          <p:nvPr/>
        </p:nvSpPr>
        <p:spPr>
          <a:xfrm>
            <a:off x="320040" y="1200000"/>
            <a:ext cx="2743201" cy="3749041"/>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 name="Google Shape;111;p18"/>
          <p:cNvSpPr/>
          <p:nvPr/>
        </p:nvSpPr>
        <p:spPr>
          <a:xfrm>
            <a:off x="3200400" y="1200000"/>
            <a:ext cx="2743201" cy="3749041"/>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 name="Google Shape;112;p18"/>
          <p:cNvSpPr/>
          <p:nvPr/>
        </p:nvSpPr>
        <p:spPr>
          <a:xfrm>
            <a:off x="6080759" y="1200000"/>
            <a:ext cx="2743201" cy="3749041"/>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 name="Google Shape;113;p18"/>
          <p:cNvSpPr txBox="1"/>
          <p:nvPr/>
        </p:nvSpPr>
        <p:spPr>
          <a:xfrm>
            <a:off x="430040" y="1310000"/>
            <a:ext cx="2523201" cy="22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Community Status</a:t>
            </a:r>
            <a:endParaRPr/>
          </a:p>
        </p:txBody>
      </p:sp>
      <p:sp>
        <p:nvSpPr>
          <p:cNvPr id="114" name="Google Shape;114;p18"/>
          <p:cNvSpPr/>
          <p:nvPr/>
        </p:nvSpPr>
        <p:spPr>
          <a:xfrm>
            <a:off x="430040" y="1530000"/>
            <a:ext cx="2523201"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 name="Google Shape;115;p18"/>
          <p:cNvSpPr txBox="1"/>
          <p:nvPr/>
        </p:nvSpPr>
        <p:spPr>
          <a:xfrm>
            <a:off x="429940" y="1701900"/>
            <a:ext cx="2523300" cy="198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300"/>
              <a:buFont typeface="Poppins"/>
              <a:buNone/>
            </a:pPr>
            <a:r>
              <a:rPr b="1" lang="en" sz="1300">
                <a:solidFill>
                  <a:srgbClr val="FFFFFF"/>
                </a:solidFill>
                <a:latin typeface="Poppins"/>
                <a:ea typeface="Poppins"/>
                <a:cs typeface="Poppins"/>
                <a:sym typeface="Poppins"/>
              </a:rPr>
              <a:t>Community-led initiative</a:t>
            </a:r>
            <a:endParaRPr/>
          </a:p>
          <a:p>
            <a:pPr indent="0" lvl="0" marL="0" marR="0" rtl="0" algn="l">
              <a:lnSpc>
                <a:spcPct val="100000"/>
              </a:lnSpc>
              <a:spcBef>
                <a:spcPts val="0"/>
              </a:spcBef>
              <a:spcAft>
                <a:spcPts val="0"/>
              </a:spcAft>
              <a:buClr>
                <a:srgbClr val="FFFFFF"/>
              </a:buClr>
              <a:buSzPts val="500"/>
              <a:buFont typeface="Poppins"/>
              <a:buNone/>
            </a:pPr>
            <a:r>
              <a:rPr b="0" i="0" lang="en" sz="5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We operate as a user group. The concept of 'user groups' is not yet formalized in OpenTelemetry </a:t>
            </a:r>
            <a:r>
              <a:rPr lang="en" sz="1100">
                <a:solidFill>
                  <a:srgbClr val="C8D8FF"/>
                </a:solidFill>
                <a:latin typeface="Poppins"/>
                <a:ea typeface="Poppins"/>
                <a:cs typeface="Poppins"/>
                <a:sym typeface="Poppins"/>
              </a:rPr>
              <a:t>(</a:t>
            </a:r>
            <a:r>
              <a:rPr b="0" i="0" lang="en" sz="1100" u="none" cap="none" strike="noStrike">
                <a:solidFill>
                  <a:srgbClr val="C8D8FF"/>
                </a:solidFill>
                <a:latin typeface="Poppins"/>
                <a:ea typeface="Poppins"/>
                <a:cs typeface="Poppins"/>
                <a:sym typeface="Poppins"/>
              </a:rPr>
              <a:t>this is actively being discussed).</a:t>
            </a:r>
            <a:endParaRPr/>
          </a:p>
          <a:p>
            <a:pPr indent="0" lvl="0" marL="0" marR="0" rtl="0" algn="l">
              <a:lnSpc>
                <a:spcPct val="100000"/>
              </a:lnSpc>
              <a:spcBef>
                <a:spcPts val="0"/>
              </a:spcBef>
              <a:spcAft>
                <a:spcPts val="0"/>
              </a:spcAft>
              <a:buClr>
                <a:srgbClr val="FFFFFF"/>
              </a:buClr>
              <a:buSzPts val="500"/>
              <a:buFont typeface="Poppins"/>
              <a:buNone/>
            </a:pPr>
            <a:r>
              <a:rPr b="0" i="0" lang="en" sz="5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C8D8FF"/>
              </a:buClr>
              <a:buSzPts val="1100"/>
              <a:buFont typeface="Poppins"/>
              <a:buNone/>
            </a:pPr>
            <a:r>
              <a:rPr lang="en" sz="1100">
                <a:solidFill>
                  <a:srgbClr val="C8D8FF"/>
                </a:solidFill>
                <a:latin typeface="Poppins"/>
                <a:ea typeface="Poppins"/>
                <a:cs typeface="Poppins"/>
                <a:sym typeface="Poppins"/>
              </a:rPr>
              <a:t>Monthly</a:t>
            </a:r>
            <a:r>
              <a:rPr b="0" i="0" lang="en" sz="1100" u="none" cap="none" strike="noStrike">
                <a:solidFill>
                  <a:srgbClr val="C8D8FF"/>
                </a:solidFill>
                <a:latin typeface="Poppins"/>
                <a:ea typeface="Poppins"/>
                <a:cs typeface="Poppins"/>
                <a:sym typeface="Poppins"/>
              </a:rPr>
              <a:t> community calls, open to all.</a:t>
            </a:r>
            <a:endParaRPr b="0" i="0" sz="1100" u="none" cap="none" strike="noStrike">
              <a:solidFill>
                <a:srgbClr val="C8D8FF"/>
              </a:solidFill>
              <a:latin typeface="Poppins"/>
              <a:ea typeface="Poppins"/>
              <a:cs typeface="Poppins"/>
              <a:sym typeface="Poppins"/>
            </a:endParaRPr>
          </a:p>
          <a:p>
            <a:pPr indent="0" lvl="0" marL="0" marR="0" rtl="0" algn="l">
              <a:lnSpc>
                <a:spcPct val="100000"/>
              </a:lnSpc>
              <a:spcBef>
                <a:spcPts val="0"/>
              </a:spcBef>
              <a:spcAft>
                <a:spcPts val="0"/>
              </a:spcAft>
              <a:buClr>
                <a:srgbClr val="C8D8FF"/>
              </a:buClr>
              <a:buSzPts val="1100"/>
              <a:buFont typeface="Poppins"/>
              <a:buNone/>
            </a:pPr>
            <a:r>
              <a:t/>
            </a:r>
            <a:endParaRPr sz="1100">
              <a:solidFill>
                <a:srgbClr val="C8D8FF"/>
              </a:solidFill>
              <a:latin typeface="Poppins"/>
              <a:ea typeface="Poppins"/>
              <a:cs typeface="Poppins"/>
              <a:sym typeface="Poppins"/>
            </a:endParaRPr>
          </a:p>
          <a:p>
            <a:pPr indent="0" lvl="0" marL="0" marR="0" rtl="0" algn="l">
              <a:lnSpc>
                <a:spcPct val="100000"/>
              </a:lnSpc>
              <a:spcBef>
                <a:spcPts val="0"/>
              </a:spcBef>
              <a:spcAft>
                <a:spcPts val="0"/>
              </a:spcAft>
              <a:buClr>
                <a:srgbClr val="C8D8FF"/>
              </a:buClr>
              <a:buSzPts val="1100"/>
              <a:buFont typeface="Poppins"/>
              <a:buNone/>
            </a:pPr>
            <a:r>
              <a:rPr b="1" lang="en" sz="1100">
                <a:solidFill>
                  <a:srgbClr val="F5A800"/>
                </a:solidFill>
                <a:uFill>
                  <a:noFill/>
                </a:uFill>
                <a:latin typeface="Poppins"/>
                <a:ea typeface="Poppins"/>
                <a:cs typeface="Poppins"/>
                <a:sym typeface="Poppins"/>
                <a:hlinkClick r:id="rId3">
                  <a:extLst>
                    <a:ext uri="{A12FA001-AC4F-418D-AE19-62706E023703}">
                      <ahyp:hlinkClr val="tx"/>
                    </a:ext>
                  </a:extLst>
                </a:hlinkClick>
              </a:rPr>
              <a:t>github.com/otel-industrial/</a:t>
            </a:r>
            <a:br>
              <a:rPr b="1" lang="en" sz="1100">
                <a:solidFill>
                  <a:srgbClr val="F5A800"/>
                </a:solidFill>
                <a:uFill>
                  <a:noFill/>
                </a:uFill>
                <a:latin typeface="Poppins"/>
                <a:ea typeface="Poppins"/>
                <a:cs typeface="Poppins"/>
                <a:sym typeface="Poppins"/>
                <a:hlinkClick r:id="rId4">
                  <a:extLst>
                    <a:ext uri="{A12FA001-AC4F-418D-AE19-62706E023703}">
                      <ahyp:hlinkClr val="tx"/>
                    </a:ext>
                  </a:extLst>
                </a:hlinkClick>
              </a:rPr>
            </a:br>
            <a:r>
              <a:rPr b="1" lang="en" sz="1100">
                <a:solidFill>
                  <a:srgbClr val="F5A800"/>
                </a:solidFill>
                <a:uFill>
                  <a:noFill/>
                </a:uFill>
                <a:latin typeface="Poppins"/>
                <a:ea typeface="Poppins"/>
                <a:cs typeface="Poppins"/>
                <a:sym typeface="Poppins"/>
                <a:hlinkClick r:id="rId5">
                  <a:extLst>
                    <a:ext uri="{A12FA001-AC4F-418D-AE19-62706E023703}">
                      <ahyp:hlinkClr val="tx"/>
                    </a:ext>
                  </a:extLst>
                </a:hlinkClick>
              </a:rPr>
              <a:t>otel-industrial-community</a:t>
            </a:r>
            <a:endParaRPr sz="1100">
              <a:solidFill>
                <a:srgbClr val="C8D8FF"/>
              </a:solidFill>
              <a:latin typeface="Poppins"/>
              <a:ea typeface="Poppins"/>
              <a:cs typeface="Poppins"/>
              <a:sym typeface="Poppins"/>
            </a:endParaRPr>
          </a:p>
          <a:p>
            <a:pPr indent="0" lvl="0" marL="0" marR="0" rtl="0" algn="l">
              <a:lnSpc>
                <a:spcPct val="100000"/>
              </a:lnSpc>
              <a:spcBef>
                <a:spcPts val="0"/>
              </a:spcBef>
              <a:spcAft>
                <a:spcPts val="0"/>
              </a:spcAft>
              <a:buClr>
                <a:srgbClr val="FFFFFF"/>
              </a:buClr>
              <a:buSzPts val="700"/>
              <a:buFont typeface="Poppins"/>
              <a:buNone/>
            </a:pPr>
            <a:r>
              <a:rPr b="0" i="0" lang="en" sz="700" u="none" cap="none" strike="noStrike">
                <a:solidFill>
                  <a:srgbClr val="FFFFFF"/>
                </a:solidFill>
                <a:latin typeface="Poppins"/>
                <a:ea typeface="Poppins"/>
                <a:cs typeface="Poppins"/>
                <a:sym typeface="Poppins"/>
              </a:rPr>
              <a:t> </a:t>
            </a:r>
            <a:endParaRPr/>
          </a:p>
        </p:txBody>
      </p:sp>
      <p:sp>
        <p:nvSpPr>
          <p:cNvPr id="116" name="Google Shape;116;p18"/>
          <p:cNvSpPr txBox="1"/>
          <p:nvPr/>
        </p:nvSpPr>
        <p:spPr>
          <a:xfrm>
            <a:off x="3310400" y="1310000"/>
            <a:ext cx="2523201" cy="22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Founded May 2026</a:t>
            </a:r>
            <a:endParaRPr/>
          </a:p>
        </p:txBody>
      </p:sp>
      <p:sp>
        <p:nvSpPr>
          <p:cNvPr id="117" name="Google Shape;117;p18"/>
          <p:cNvSpPr/>
          <p:nvPr/>
        </p:nvSpPr>
        <p:spPr>
          <a:xfrm>
            <a:off x="3310400" y="1530000"/>
            <a:ext cx="2523201"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 name="Google Shape;118;p18"/>
          <p:cNvSpPr txBox="1"/>
          <p:nvPr/>
        </p:nvSpPr>
        <p:spPr>
          <a:xfrm>
            <a:off x="3310350" y="1701900"/>
            <a:ext cx="2523300" cy="1308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300"/>
              <a:buFont typeface="Poppins"/>
              <a:buNone/>
            </a:pPr>
            <a:r>
              <a:rPr b="1" i="0" lang="en" sz="1300" u="none" cap="none" strike="noStrike">
                <a:solidFill>
                  <a:srgbClr val="FFFFFF"/>
                </a:solidFill>
                <a:latin typeface="Poppins"/>
                <a:ea typeface="Poppins"/>
                <a:cs typeface="Poppins"/>
                <a:sym typeface="Poppins"/>
              </a:rPr>
              <a:t>60+ members</a:t>
            </a:r>
            <a:endParaRPr/>
          </a:p>
          <a:p>
            <a:pPr indent="0" lvl="0" marL="0" marR="0" rtl="0" algn="l">
              <a:lnSpc>
                <a:spcPct val="100000"/>
              </a:lnSpc>
              <a:spcBef>
                <a:spcPts val="0"/>
              </a:spcBef>
              <a:spcAft>
                <a:spcPts val="0"/>
              </a:spcAft>
              <a:buClr>
                <a:srgbClr val="FFFFFF"/>
              </a:buClr>
              <a:buSzPts val="500"/>
              <a:buFont typeface="Poppins"/>
              <a:buNone/>
            </a:pPr>
            <a:r>
              <a:rPr b="0" i="0" lang="en" sz="5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CNCF Slack: </a:t>
            </a:r>
            <a:r>
              <a:rPr b="1" i="0" lang="en" sz="1100" u="none" cap="none" strike="noStrike">
                <a:solidFill>
                  <a:srgbClr val="C8D8FF"/>
                </a:solidFill>
                <a:latin typeface="Poppins"/>
                <a:ea typeface="Poppins"/>
                <a:cs typeface="Poppins"/>
                <a:sym typeface="Poppins"/>
              </a:rPr>
              <a:t>#otel-industrial</a:t>
            </a:r>
            <a:endParaRPr b="1"/>
          </a:p>
          <a:p>
            <a:pPr indent="0" lvl="0" marL="0" marR="0" rtl="0" algn="l">
              <a:lnSpc>
                <a:spcPct val="100000"/>
              </a:lnSpc>
              <a:spcBef>
                <a:spcPts val="0"/>
              </a:spcBef>
              <a:spcAft>
                <a:spcPts val="0"/>
              </a:spcAft>
              <a:buClr>
                <a:srgbClr val="FFFFFF"/>
              </a:buClr>
              <a:buSzPts val="500"/>
              <a:buFont typeface="Poppins"/>
              <a:buNone/>
            </a:pPr>
            <a:r>
              <a:rPr b="0" i="0" lang="en" sz="5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A small but active core contributing receivers, docs, and community resources.</a:t>
            </a:r>
            <a:endParaRPr/>
          </a:p>
          <a:p>
            <a:pPr indent="0" lvl="0" marL="0" marR="0" rtl="0" algn="l">
              <a:lnSpc>
                <a:spcPct val="100000"/>
              </a:lnSpc>
              <a:spcBef>
                <a:spcPts val="0"/>
              </a:spcBef>
              <a:spcAft>
                <a:spcPts val="0"/>
              </a:spcAft>
              <a:buClr>
                <a:srgbClr val="FFFFFF"/>
              </a:buClr>
              <a:buSzPts val="700"/>
              <a:buFont typeface="Poppins"/>
              <a:buNone/>
            </a:pPr>
            <a:r>
              <a:rPr b="0" i="0" lang="en" sz="7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F5A800"/>
              </a:buClr>
              <a:buSzPts val="1100"/>
              <a:buFont typeface="Poppins"/>
              <a:buNone/>
            </a:pPr>
            <a:r>
              <a:rPr b="1" i="0" lang="en" sz="1100" u="none" cap="none" strike="noStrike">
                <a:solidFill>
                  <a:srgbClr val="F5A800"/>
                </a:solidFill>
                <a:latin typeface="Poppins"/>
                <a:ea typeface="Poppins"/>
                <a:cs typeface="Poppins"/>
                <a:sym typeface="Poppins"/>
              </a:rPr>
              <a:t>github.com/otel-industrial</a:t>
            </a:r>
            <a:endParaRPr/>
          </a:p>
        </p:txBody>
      </p:sp>
      <p:sp>
        <p:nvSpPr>
          <p:cNvPr id="119" name="Google Shape;119;p18"/>
          <p:cNvSpPr txBox="1"/>
          <p:nvPr/>
        </p:nvSpPr>
        <p:spPr>
          <a:xfrm>
            <a:off x="6190759" y="1310000"/>
            <a:ext cx="25233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Our </a:t>
            </a:r>
            <a:r>
              <a:rPr b="1" lang="en" sz="1300">
                <a:solidFill>
                  <a:srgbClr val="F5A800"/>
                </a:solidFill>
                <a:latin typeface="Poppins"/>
                <a:ea typeface="Poppins"/>
                <a:cs typeface="Poppins"/>
                <a:sym typeface="Poppins"/>
              </a:rPr>
              <a:t>Mission</a:t>
            </a:r>
            <a:endParaRPr/>
          </a:p>
        </p:txBody>
      </p:sp>
      <p:sp>
        <p:nvSpPr>
          <p:cNvPr id="120" name="Google Shape;120;p18"/>
          <p:cNvSpPr/>
          <p:nvPr/>
        </p:nvSpPr>
        <p:spPr>
          <a:xfrm>
            <a:off x="6190759" y="1530000"/>
            <a:ext cx="2523201"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 name="Google Shape;121;p18"/>
          <p:cNvSpPr txBox="1"/>
          <p:nvPr/>
        </p:nvSpPr>
        <p:spPr>
          <a:xfrm>
            <a:off x="6190750" y="1701900"/>
            <a:ext cx="2523300" cy="129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5A800"/>
              </a:buClr>
              <a:buSzPts val="1100"/>
              <a:buFont typeface="Poppins"/>
              <a:buNone/>
            </a:pPr>
            <a:r>
              <a:rPr b="1" lang="en" sz="1300">
                <a:solidFill>
                  <a:srgbClr val="FFFFFF"/>
                </a:solidFill>
                <a:latin typeface="Poppins"/>
                <a:ea typeface="Poppins"/>
                <a:cs typeface="Poppins"/>
                <a:sym typeface="Poppins"/>
              </a:rPr>
              <a:t>Industrial</a:t>
            </a:r>
            <a:r>
              <a:rPr lang="en" sz="1200">
                <a:solidFill>
                  <a:schemeClr val="dk1"/>
                </a:solidFill>
              </a:rPr>
              <a:t> </a:t>
            </a:r>
            <a:r>
              <a:rPr b="1" lang="en" sz="1300">
                <a:solidFill>
                  <a:srgbClr val="FFFFFF"/>
                </a:solidFill>
                <a:latin typeface="Poppins"/>
                <a:ea typeface="Poppins"/>
                <a:cs typeface="Poppins"/>
                <a:sym typeface="Poppins"/>
              </a:rPr>
              <a:t>Observability</a:t>
            </a:r>
            <a:endParaRPr b="1" sz="13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Clr>
                <a:srgbClr val="F5A800"/>
              </a:buClr>
              <a:buSzPts val="1100"/>
              <a:buFont typeface="Poppins"/>
              <a:buNone/>
            </a:pPr>
            <a:r>
              <a:t/>
            </a:r>
            <a:endParaRPr b="1" sz="5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Clr>
                <a:srgbClr val="F5A800"/>
              </a:buClr>
              <a:buSzPts val="1100"/>
              <a:buFont typeface="Poppins"/>
              <a:buNone/>
            </a:pPr>
            <a:r>
              <a:rPr lang="en" sz="1100">
                <a:solidFill>
                  <a:srgbClr val="C8D8FF"/>
                </a:solidFill>
                <a:latin typeface="Poppins"/>
                <a:ea typeface="Poppins"/>
                <a:cs typeface="Poppins"/>
                <a:sym typeface="Poppins"/>
              </a:rPr>
              <a:t>Build an open, vendor-neutral ecosystem for industrial observability through OpenTelemetry, bringing together end users, vendors, and the open source community.</a:t>
            </a:r>
            <a:endParaRPr/>
          </a:p>
        </p:txBody>
      </p:sp>
      <p:sp>
        <p:nvSpPr>
          <p:cNvPr id="122" name="Google Shape;122;p18"/>
          <p:cNvSpPr txBox="1"/>
          <p:nvPr/>
        </p:nvSpPr>
        <p:spPr>
          <a:xfrm>
            <a:off x="320040" y="258572"/>
            <a:ext cx="85038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lang="en" sz="1200">
                <a:solidFill>
                  <a:srgbClr val="F5A800"/>
                </a:solidFill>
                <a:latin typeface="Poppins"/>
                <a:ea typeface="Poppins"/>
                <a:cs typeface="Poppins"/>
                <a:sym typeface="Poppins"/>
              </a:rPr>
              <a:t>Community Overview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126" name="Shape 126"/>
        <p:cNvGrpSpPr/>
        <p:nvPr/>
      </p:nvGrpSpPr>
      <p:grpSpPr>
        <a:xfrm>
          <a:off x="0" y="0"/>
          <a:ext cx="0" cy="0"/>
          <a:chOff x="0" y="0"/>
          <a:chExt cx="0" cy="0"/>
        </a:xfrm>
      </p:grpSpPr>
      <p:sp>
        <p:nvSpPr>
          <p:cNvPr id="127" name="Google Shape;127;p19"/>
          <p:cNvSpPr txBox="1"/>
          <p:nvPr/>
        </p:nvSpPr>
        <p:spPr>
          <a:xfrm>
            <a:off x="320040" y="550000"/>
            <a:ext cx="8503800" cy="400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lang="en" sz="2600">
                <a:solidFill>
                  <a:srgbClr val="FFFFFF"/>
                </a:solidFill>
                <a:latin typeface="Poppins"/>
                <a:ea typeface="Poppins"/>
                <a:cs typeface="Poppins"/>
                <a:sym typeface="Poppins"/>
              </a:rPr>
              <a:t>OpenTelemetry</a:t>
            </a:r>
            <a:r>
              <a:rPr b="1" i="0" lang="en" sz="2600" u="none" cap="none" strike="noStrike">
                <a:solidFill>
                  <a:srgbClr val="FFFFFF"/>
                </a:solidFill>
                <a:latin typeface="Poppins"/>
                <a:ea typeface="Poppins"/>
                <a:cs typeface="Poppins"/>
                <a:sym typeface="Poppins"/>
              </a:rPr>
              <a:t> Industrial Resources</a:t>
            </a:r>
            <a:endParaRPr/>
          </a:p>
        </p:txBody>
      </p:sp>
      <p:sp>
        <p:nvSpPr>
          <p:cNvPr id="128" name="Google Shape;128;p19"/>
          <p:cNvSpPr/>
          <p:nvPr/>
        </p:nvSpPr>
        <p:spPr>
          <a:xfrm>
            <a:off x="320040" y="1100000"/>
            <a:ext cx="850392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 name="Google Shape;129;p19"/>
          <p:cNvSpPr/>
          <p:nvPr/>
        </p:nvSpPr>
        <p:spPr>
          <a:xfrm>
            <a:off x="320040" y="1220000"/>
            <a:ext cx="2700000" cy="73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 name="Google Shape;130;p19"/>
          <p:cNvSpPr txBox="1"/>
          <p:nvPr/>
        </p:nvSpPr>
        <p:spPr>
          <a:xfrm>
            <a:off x="320040" y="1320000"/>
            <a:ext cx="2700000" cy="40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1800"/>
              <a:buFont typeface="Poppins"/>
              <a:buNone/>
            </a:pPr>
            <a:r>
              <a:rPr b="1" i="0" lang="en" sz="1800" u="none" cap="none" strike="noStrike">
                <a:solidFill>
                  <a:srgbClr val="F5A800"/>
                </a:solidFill>
                <a:latin typeface="Poppins"/>
                <a:ea typeface="Poppins"/>
                <a:cs typeface="Poppins"/>
                <a:sym typeface="Poppins"/>
              </a:rPr>
              <a:t>May 2026</a:t>
            </a:r>
            <a:endParaRPr/>
          </a:p>
        </p:txBody>
      </p:sp>
      <p:sp>
        <p:nvSpPr>
          <p:cNvPr id="131" name="Google Shape;131;p19"/>
          <p:cNvSpPr txBox="1"/>
          <p:nvPr/>
        </p:nvSpPr>
        <p:spPr>
          <a:xfrm>
            <a:off x="320040" y="1750000"/>
            <a:ext cx="2700000" cy="16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000"/>
              <a:buFont typeface="Poppins"/>
              <a:buNone/>
            </a:pPr>
            <a:r>
              <a:rPr b="0" i="0" lang="en" sz="1000" u="none" cap="none" strike="noStrike">
                <a:solidFill>
                  <a:srgbClr val="FFFFFF"/>
                </a:solidFill>
                <a:latin typeface="Poppins"/>
                <a:ea typeface="Poppins"/>
                <a:cs typeface="Poppins"/>
                <a:sym typeface="Poppins"/>
              </a:rPr>
              <a:t>Founded</a:t>
            </a:r>
            <a:endParaRPr/>
          </a:p>
        </p:txBody>
      </p:sp>
      <p:sp>
        <p:nvSpPr>
          <p:cNvPr id="132" name="Google Shape;132;p19"/>
          <p:cNvSpPr/>
          <p:nvPr/>
        </p:nvSpPr>
        <p:spPr>
          <a:xfrm>
            <a:off x="3172020" y="1220000"/>
            <a:ext cx="2700000" cy="73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 name="Google Shape;133;p19"/>
          <p:cNvSpPr txBox="1"/>
          <p:nvPr/>
        </p:nvSpPr>
        <p:spPr>
          <a:xfrm>
            <a:off x="3172020" y="1320000"/>
            <a:ext cx="2700000" cy="40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3000"/>
              <a:buFont typeface="Poppins"/>
              <a:buNone/>
            </a:pPr>
            <a:r>
              <a:rPr b="1" i="0" lang="en" sz="3000" u="none" cap="none" strike="noStrike">
                <a:solidFill>
                  <a:srgbClr val="F5A800"/>
                </a:solidFill>
                <a:latin typeface="Poppins"/>
                <a:ea typeface="Poppins"/>
                <a:cs typeface="Poppins"/>
                <a:sym typeface="Poppins"/>
              </a:rPr>
              <a:t>60+</a:t>
            </a:r>
            <a:endParaRPr/>
          </a:p>
        </p:txBody>
      </p:sp>
      <p:sp>
        <p:nvSpPr>
          <p:cNvPr id="134" name="Google Shape;134;p19"/>
          <p:cNvSpPr txBox="1"/>
          <p:nvPr/>
        </p:nvSpPr>
        <p:spPr>
          <a:xfrm>
            <a:off x="3172020" y="1750000"/>
            <a:ext cx="2700000" cy="16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000"/>
              <a:buFont typeface="Poppins"/>
              <a:buNone/>
            </a:pPr>
            <a:r>
              <a:rPr b="0" i="0" lang="en" sz="1000" u="none" cap="none" strike="noStrike">
                <a:solidFill>
                  <a:srgbClr val="FFFFFF"/>
                </a:solidFill>
                <a:latin typeface="Poppins"/>
                <a:ea typeface="Poppins"/>
                <a:cs typeface="Poppins"/>
                <a:sym typeface="Poppins"/>
              </a:rPr>
              <a:t>CNCF Slack members</a:t>
            </a:r>
            <a:endParaRPr/>
          </a:p>
        </p:txBody>
      </p:sp>
      <p:sp>
        <p:nvSpPr>
          <p:cNvPr id="135" name="Google Shape;135;p19"/>
          <p:cNvSpPr/>
          <p:nvPr/>
        </p:nvSpPr>
        <p:spPr>
          <a:xfrm>
            <a:off x="6124000" y="1220000"/>
            <a:ext cx="2700000" cy="73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6" name="Google Shape;136;p19"/>
          <p:cNvSpPr txBox="1"/>
          <p:nvPr/>
        </p:nvSpPr>
        <p:spPr>
          <a:xfrm>
            <a:off x="6124000" y="1320000"/>
            <a:ext cx="2700000" cy="40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1500"/>
              <a:buFont typeface="Poppins"/>
              <a:buNone/>
            </a:pPr>
            <a:r>
              <a:rPr b="1" i="0" lang="en" sz="1500" u="none" cap="none" strike="noStrike">
                <a:solidFill>
                  <a:srgbClr val="F5A800"/>
                </a:solidFill>
                <a:latin typeface="Poppins"/>
                <a:ea typeface="Poppins"/>
                <a:cs typeface="Poppins"/>
                <a:sym typeface="Poppins"/>
              </a:rPr>
              <a:t>#otel-industrial</a:t>
            </a:r>
            <a:endParaRPr/>
          </a:p>
        </p:txBody>
      </p:sp>
      <p:sp>
        <p:nvSpPr>
          <p:cNvPr id="137" name="Google Shape;137;p19"/>
          <p:cNvSpPr txBox="1"/>
          <p:nvPr/>
        </p:nvSpPr>
        <p:spPr>
          <a:xfrm>
            <a:off x="6124000" y="1750000"/>
            <a:ext cx="2700000" cy="160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000"/>
              <a:buFont typeface="Poppins"/>
              <a:buNone/>
            </a:pPr>
            <a:r>
              <a:rPr b="0" i="0" lang="en" sz="1000" u="none" cap="none" strike="noStrike">
                <a:solidFill>
                  <a:srgbClr val="FFFFFF"/>
                </a:solidFill>
                <a:latin typeface="Poppins"/>
                <a:ea typeface="Poppins"/>
                <a:cs typeface="Poppins"/>
                <a:sym typeface="Poppins"/>
              </a:rPr>
              <a:t>CNCF Slack channel</a:t>
            </a:r>
            <a:endParaRPr/>
          </a:p>
        </p:txBody>
      </p:sp>
      <p:sp>
        <p:nvSpPr>
          <p:cNvPr id="138" name="Google Shape;138;p19"/>
          <p:cNvSpPr txBox="1"/>
          <p:nvPr/>
        </p:nvSpPr>
        <p:spPr>
          <a:xfrm>
            <a:off x="320050" y="2130000"/>
            <a:ext cx="4170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400"/>
              <a:buFont typeface="Poppins"/>
              <a:buNone/>
            </a:pPr>
            <a:r>
              <a:rPr b="1" i="0" lang="en" sz="1400" u="none" cap="none" strike="noStrike">
                <a:solidFill>
                  <a:srgbClr val="F5A800"/>
                </a:solidFill>
                <a:latin typeface="Poppins"/>
                <a:ea typeface="Poppins"/>
                <a:cs typeface="Poppins"/>
                <a:sym typeface="Poppins"/>
              </a:rPr>
              <a:t>GitHub </a:t>
            </a:r>
            <a:endParaRPr/>
          </a:p>
        </p:txBody>
      </p:sp>
      <p:sp>
        <p:nvSpPr>
          <p:cNvPr id="139" name="Google Shape;139;p19"/>
          <p:cNvSpPr txBox="1"/>
          <p:nvPr/>
        </p:nvSpPr>
        <p:spPr>
          <a:xfrm>
            <a:off x="320040" y="2400000"/>
            <a:ext cx="4050000" cy="1800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200">
                <a:solidFill>
                  <a:srgbClr val="FFFFFF"/>
                </a:solidFill>
                <a:latin typeface="Poppins"/>
                <a:ea typeface="Poppins"/>
                <a:cs typeface="Poppins"/>
                <a:sym typeface="Poppins"/>
              </a:rPr>
              <a:t>otel-industrial-resources</a:t>
            </a:r>
            <a:endParaRPr b="1" sz="1200">
              <a:solidFill>
                <a:srgbClr val="FFFF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100">
                <a:solidFill>
                  <a:srgbClr val="C8D8FF"/>
                </a:solidFill>
                <a:latin typeface="Poppins"/>
                <a:ea typeface="Poppins"/>
                <a:cs typeface="Poppins"/>
                <a:sym typeface="Poppins"/>
              </a:rPr>
              <a:t>Documentation, reference materials, project catalog, </a:t>
            </a:r>
            <a:br>
              <a:rPr lang="en" sz="1100">
                <a:solidFill>
                  <a:srgbClr val="C8D8FF"/>
                </a:solidFill>
                <a:latin typeface="Poppins"/>
                <a:ea typeface="Poppins"/>
                <a:cs typeface="Poppins"/>
                <a:sym typeface="Poppins"/>
              </a:rPr>
            </a:br>
            <a:r>
              <a:rPr lang="en" sz="1100">
                <a:solidFill>
                  <a:srgbClr val="C8D8FF"/>
                </a:solidFill>
                <a:latin typeface="Poppins"/>
                <a:ea typeface="Poppins"/>
                <a:cs typeface="Poppins"/>
                <a:sym typeface="Poppins"/>
              </a:rPr>
              <a:t>and learning resources.</a:t>
            </a:r>
            <a:br>
              <a:rPr lang="en" sz="1100">
                <a:solidFill>
                  <a:srgbClr val="C8D8FF"/>
                </a:solidFill>
                <a:latin typeface="Poppins"/>
                <a:ea typeface="Poppins"/>
                <a:cs typeface="Poppins"/>
                <a:sym typeface="Poppins"/>
              </a:rPr>
            </a:br>
            <a:endParaRPr b="1" sz="500">
              <a:solidFill>
                <a:srgbClr val="FFFF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 sz="1200">
                <a:solidFill>
                  <a:srgbClr val="FFFFFF"/>
                </a:solidFill>
                <a:latin typeface="Poppins"/>
                <a:ea typeface="Poppins"/>
                <a:cs typeface="Poppins"/>
                <a:sym typeface="Poppins"/>
              </a:rPr>
              <a:t>otel-industrial-community</a:t>
            </a:r>
            <a:endParaRPr b="1" sz="1200">
              <a:solidFill>
                <a:srgbClr val="FFFF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100">
                <a:solidFill>
                  <a:srgbClr val="C8D8FF"/>
                </a:solidFill>
                <a:latin typeface="Poppins"/>
                <a:ea typeface="Poppins"/>
                <a:cs typeface="Poppins"/>
                <a:sym typeface="Poppins"/>
              </a:rPr>
              <a:t>Community meetings, roadmap, presentations, working groups, and collaboration.</a:t>
            </a:r>
            <a:endParaRPr b="1" sz="12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Clr>
                <a:srgbClr val="C8D8FF"/>
              </a:buClr>
              <a:buSzPts val="1100"/>
              <a:buFont typeface="Poppins"/>
              <a:buNone/>
            </a:pPr>
            <a:r>
              <a:t/>
            </a:r>
            <a:endParaRPr b="1" sz="12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Clr>
                <a:srgbClr val="FFFFFF"/>
              </a:buClr>
              <a:buSzPts val="700"/>
              <a:buFont typeface="Poppins"/>
              <a:buNone/>
            </a:pPr>
            <a:r>
              <a:rPr b="0" i="0" lang="en" sz="7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F5A800"/>
              </a:buClr>
              <a:buSzPts val="1100"/>
              <a:buFont typeface="Poppins"/>
              <a:buNone/>
            </a:pPr>
            <a:r>
              <a:t/>
            </a:r>
            <a:endParaRPr/>
          </a:p>
        </p:txBody>
      </p:sp>
      <p:sp>
        <p:nvSpPr>
          <p:cNvPr id="140" name="Google Shape;140;p19"/>
          <p:cNvSpPr txBox="1"/>
          <p:nvPr/>
        </p:nvSpPr>
        <p:spPr>
          <a:xfrm>
            <a:off x="4620000" y="2130000"/>
            <a:ext cx="4220000" cy="23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400"/>
              <a:buFont typeface="Poppins"/>
              <a:buNone/>
            </a:pPr>
            <a:r>
              <a:rPr b="1" i="0" lang="en" sz="1400" u="none" cap="none" strike="noStrike">
                <a:solidFill>
                  <a:srgbClr val="F5A800"/>
                </a:solidFill>
                <a:latin typeface="Poppins"/>
                <a:ea typeface="Poppins"/>
                <a:cs typeface="Poppins"/>
                <a:sym typeface="Poppins"/>
              </a:rPr>
              <a:t>Get Involved</a:t>
            </a:r>
            <a:endParaRPr/>
          </a:p>
        </p:txBody>
      </p:sp>
      <p:sp>
        <p:nvSpPr>
          <p:cNvPr id="141" name="Google Shape;141;p19"/>
          <p:cNvSpPr txBox="1"/>
          <p:nvPr/>
        </p:nvSpPr>
        <p:spPr>
          <a:xfrm>
            <a:off x="4620000" y="2400000"/>
            <a:ext cx="4220100" cy="1215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200"/>
              <a:buFont typeface="Poppins"/>
              <a:buNone/>
            </a:pPr>
            <a:r>
              <a:rPr b="1" i="0" lang="en" sz="1200" u="none" cap="none" strike="noStrike">
                <a:solidFill>
                  <a:srgbClr val="FFFFFF"/>
                </a:solidFill>
                <a:latin typeface="Poppins"/>
                <a:ea typeface="Poppins"/>
                <a:cs typeface="Poppins"/>
                <a:sym typeface="Poppins"/>
              </a:rPr>
              <a:t>CNCF Slack: #otel-industrial</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Most active discussion happens here</a:t>
            </a:r>
            <a:endParaRPr/>
          </a:p>
          <a:p>
            <a:pPr indent="0" lvl="0" marL="0" marR="0" rtl="0" algn="l">
              <a:lnSpc>
                <a:spcPct val="100000"/>
              </a:lnSpc>
              <a:spcBef>
                <a:spcPts val="0"/>
              </a:spcBef>
              <a:spcAft>
                <a:spcPts val="0"/>
              </a:spcAft>
              <a:buClr>
                <a:srgbClr val="FFFFFF"/>
              </a:buClr>
              <a:buSzPts val="500"/>
              <a:buFont typeface="Poppins"/>
              <a:buNone/>
            </a:pPr>
            <a:r>
              <a:rPr b="0" i="0" lang="en" sz="5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FFFFFF"/>
              </a:buClr>
              <a:buSzPts val="1200"/>
              <a:buFont typeface="Poppins"/>
              <a:buNone/>
            </a:pPr>
            <a:r>
              <a:rPr b="1" lang="en" sz="1200">
                <a:solidFill>
                  <a:srgbClr val="FFFFFF"/>
                </a:solidFill>
                <a:latin typeface="Poppins"/>
                <a:ea typeface="Poppins"/>
                <a:cs typeface="Poppins"/>
                <a:sym typeface="Poppins"/>
              </a:rPr>
              <a:t>Monthly</a:t>
            </a:r>
            <a:r>
              <a:rPr b="1" i="0" lang="en" sz="1200" u="none" cap="none" strike="noStrike">
                <a:solidFill>
                  <a:srgbClr val="FFFFFF"/>
                </a:solidFill>
                <a:latin typeface="Poppins"/>
                <a:ea typeface="Poppins"/>
                <a:cs typeface="Poppins"/>
                <a:sym typeface="Poppins"/>
              </a:rPr>
              <a:t> community calls</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Open to all — check GitHub for schedule</a:t>
            </a:r>
            <a:endParaRPr/>
          </a:p>
          <a:p>
            <a:pPr indent="0" lvl="0" marL="0" marR="0" rtl="0" algn="l">
              <a:lnSpc>
                <a:spcPct val="100000"/>
              </a:lnSpc>
              <a:spcBef>
                <a:spcPts val="0"/>
              </a:spcBef>
              <a:spcAft>
                <a:spcPts val="0"/>
              </a:spcAft>
              <a:buClr>
                <a:srgbClr val="FFFFFF"/>
              </a:buClr>
              <a:buSzPts val="500"/>
              <a:buFont typeface="Poppins"/>
              <a:buNone/>
            </a:pPr>
            <a:r>
              <a:rPr b="0" i="0" lang="en" sz="5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FFFFFF"/>
              </a:buClr>
              <a:buSzPts val="1200"/>
              <a:buFont typeface="Poppins"/>
              <a:buNone/>
            </a:pPr>
            <a:r>
              <a:rPr b="1" lang="en" sz="1200">
                <a:solidFill>
                  <a:srgbClr val="FFFFFF"/>
                </a:solidFill>
                <a:latin typeface="Poppins"/>
                <a:ea typeface="Poppins"/>
                <a:cs typeface="Poppins"/>
                <a:sym typeface="Poppins"/>
              </a:rPr>
              <a:t>Contribute code, documentation, testing, and ideas</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All skill levels welcome</a:t>
            </a:r>
            <a:endParaRPr/>
          </a:p>
        </p:txBody>
      </p:sp>
      <p:sp>
        <p:nvSpPr>
          <p:cNvPr id="142" name="Google Shape;142;p19"/>
          <p:cNvSpPr txBox="1"/>
          <p:nvPr/>
        </p:nvSpPr>
        <p:spPr>
          <a:xfrm>
            <a:off x="320040" y="258572"/>
            <a:ext cx="85038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lang="en" sz="1200">
                <a:solidFill>
                  <a:srgbClr val="F5A800"/>
                </a:solidFill>
                <a:latin typeface="Poppins"/>
                <a:ea typeface="Poppins"/>
                <a:cs typeface="Poppins"/>
                <a:sym typeface="Poppins"/>
              </a:rPr>
              <a:t>Community Resources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146" name="Shape 146"/>
        <p:cNvGrpSpPr/>
        <p:nvPr/>
      </p:nvGrpSpPr>
      <p:grpSpPr>
        <a:xfrm>
          <a:off x="0" y="0"/>
          <a:ext cx="0" cy="0"/>
          <a:chOff x="0" y="0"/>
          <a:chExt cx="0" cy="0"/>
        </a:xfrm>
      </p:grpSpPr>
      <p:sp>
        <p:nvSpPr>
          <p:cNvPr id="147" name="Google Shape;147;p20"/>
          <p:cNvSpPr txBox="1"/>
          <p:nvPr/>
        </p:nvSpPr>
        <p:spPr>
          <a:xfrm>
            <a:off x="320040" y="550000"/>
            <a:ext cx="8503920" cy="43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i="0" lang="en" sz="2600" u="none" cap="none" strike="noStrike">
                <a:solidFill>
                  <a:srgbClr val="FFFFFF"/>
                </a:solidFill>
                <a:latin typeface="Poppins"/>
                <a:ea typeface="Poppins"/>
                <a:cs typeface="Poppins"/>
                <a:sym typeface="Poppins"/>
              </a:rPr>
              <a:t>OpenTelemetry Industrial Projects</a:t>
            </a:r>
            <a:endParaRPr/>
          </a:p>
        </p:txBody>
      </p:sp>
      <p:sp>
        <p:nvSpPr>
          <p:cNvPr id="148" name="Google Shape;148;p20"/>
          <p:cNvSpPr/>
          <p:nvPr/>
        </p:nvSpPr>
        <p:spPr>
          <a:xfrm>
            <a:off x="320040" y="1100000"/>
            <a:ext cx="850392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aphicFrame>
        <p:nvGraphicFramePr>
          <p:cNvPr id="149" name="Google Shape;149;p20"/>
          <p:cNvGraphicFramePr/>
          <p:nvPr/>
        </p:nvGraphicFramePr>
        <p:xfrm>
          <a:off x="320040" y="1220000"/>
          <a:ext cx="3000000" cy="3000000"/>
        </p:xfrm>
        <a:graphic>
          <a:graphicData uri="http://schemas.openxmlformats.org/drawingml/2006/table">
            <a:tbl>
              <a:tblPr>
                <a:noFill/>
                <a:tableStyleId>{2B5CA6C5-CB09-4017-887F-86AC95E1C0CB}</a:tableStyleId>
              </a:tblPr>
              <a:tblGrid>
                <a:gridCol w="1850000"/>
                <a:gridCol w="3500000"/>
                <a:gridCol w="1500000"/>
                <a:gridCol w="1653925"/>
              </a:tblGrid>
              <a:tr h="420000">
                <a:tc>
                  <a:txBody>
                    <a:bodyPr/>
                    <a:lstStyle/>
                    <a:p>
                      <a:pPr indent="0" lvl="0" marL="0" marR="0" rtl="0" algn="l">
                        <a:lnSpc>
                          <a:spcPct val="100000"/>
                        </a:lnSpc>
                        <a:spcBef>
                          <a:spcPts val="0"/>
                        </a:spcBef>
                        <a:spcAft>
                          <a:spcPts val="0"/>
                        </a:spcAft>
                        <a:buClr>
                          <a:srgbClr val="334EBF"/>
                        </a:buClr>
                        <a:buSzPts val="1050"/>
                        <a:buFont typeface="Poppins"/>
                        <a:buNone/>
                      </a:pPr>
                      <a:r>
                        <a:rPr b="1" lang="en" sz="1050" u="none" cap="none" strike="noStrike">
                          <a:solidFill>
                            <a:srgbClr val="334EBF"/>
                          </a:solidFill>
                          <a:latin typeface="Poppins"/>
                          <a:ea typeface="Poppins"/>
                          <a:cs typeface="Poppins"/>
                          <a:sym typeface="Poppins"/>
                        </a:rPr>
                        <a:t>PROJECT</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A800"/>
                    </a:solidFill>
                  </a:tcPr>
                </a:tc>
                <a:tc>
                  <a:txBody>
                    <a:bodyPr/>
                    <a:lstStyle/>
                    <a:p>
                      <a:pPr indent="0" lvl="0" marL="0" marR="0" rtl="0" algn="l">
                        <a:lnSpc>
                          <a:spcPct val="100000"/>
                        </a:lnSpc>
                        <a:spcBef>
                          <a:spcPts val="0"/>
                        </a:spcBef>
                        <a:spcAft>
                          <a:spcPts val="0"/>
                        </a:spcAft>
                        <a:buClr>
                          <a:srgbClr val="334EBF"/>
                        </a:buClr>
                        <a:buSzPts val="1050"/>
                        <a:buFont typeface="Poppins"/>
                        <a:buNone/>
                      </a:pPr>
                      <a:r>
                        <a:rPr b="1" lang="en" sz="1050" u="none" cap="none" strike="noStrike">
                          <a:solidFill>
                            <a:srgbClr val="334EBF"/>
                          </a:solidFill>
                          <a:latin typeface="Poppins"/>
                          <a:ea typeface="Poppins"/>
                          <a:cs typeface="Poppins"/>
                          <a:sym typeface="Poppins"/>
                        </a:rPr>
                        <a:t>DESCRIPTION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A800"/>
                    </a:solidFill>
                  </a:tcPr>
                </a:tc>
                <a:tc>
                  <a:txBody>
                    <a:bodyPr/>
                    <a:lstStyle/>
                    <a:p>
                      <a:pPr indent="0" lvl="0" marL="0" marR="0" rtl="0" algn="ctr">
                        <a:lnSpc>
                          <a:spcPct val="100000"/>
                        </a:lnSpc>
                        <a:spcBef>
                          <a:spcPts val="0"/>
                        </a:spcBef>
                        <a:spcAft>
                          <a:spcPts val="0"/>
                        </a:spcAft>
                        <a:buClr>
                          <a:srgbClr val="334EBF"/>
                        </a:buClr>
                        <a:buSzPts val="1050"/>
                        <a:buFont typeface="Poppins"/>
                        <a:buNone/>
                      </a:pPr>
                      <a:r>
                        <a:rPr b="1" lang="en" sz="1050" u="none" cap="none" strike="noStrike">
                          <a:solidFill>
                            <a:srgbClr val="334EBF"/>
                          </a:solidFill>
                          <a:latin typeface="Poppins"/>
                          <a:ea typeface="Poppins"/>
                          <a:cs typeface="Poppins"/>
                          <a:sym typeface="Poppins"/>
                        </a:rPr>
                        <a:t>STATUS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A800"/>
                    </a:solidFill>
                  </a:tcPr>
                </a:tc>
                <a:tc>
                  <a:txBody>
                    <a:bodyPr/>
                    <a:lstStyle/>
                    <a:p>
                      <a:pPr indent="0" lvl="0" marL="0" marR="0" rtl="0" algn="l">
                        <a:lnSpc>
                          <a:spcPct val="100000"/>
                        </a:lnSpc>
                        <a:spcBef>
                          <a:spcPts val="0"/>
                        </a:spcBef>
                        <a:spcAft>
                          <a:spcPts val="0"/>
                        </a:spcAft>
                        <a:buClr>
                          <a:srgbClr val="334EBF"/>
                        </a:buClr>
                        <a:buSzPts val="1050"/>
                        <a:buFont typeface="Poppins"/>
                        <a:buNone/>
                      </a:pPr>
                      <a:r>
                        <a:rPr b="1" lang="en" sz="1050" u="none" cap="none" strike="noStrike">
                          <a:solidFill>
                            <a:srgbClr val="334EBF"/>
                          </a:solidFill>
                          <a:latin typeface="Poppins"/>
                          <a:ea typeface="Poppins"/>
                          <a:cs typeface="Poppins"/>
                          <a:sym typeface="Poppins"/>
                        </a:rPr>
                        <a:t>AUTHOR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A800"/>
                    </a:solidFill>
                  </a:tcPr>
                </a:tc>
              </a:tr>
              <a:tr h="640000">
                <a:tc>
                  <a:txBody>
                    <a:bodyPr/>
                    <a:lstStyle/>
                    <a:p>
                      <a:pPr indent="0" lvl="0" marL="0" marR="0" rtl="0" algn="l">
                        <a:lnSpc>
                          <a:spcPct val="100000"/>
                        </a:lnSpc>
                        <a:spcBef>
                          <a:spcPts val="0"/>
                        </a:spcBef>
                        <a:spcAft>
                          <a:spcPts val="0"/>
                        </a:spcAft>
                        <a:buClr>
                          <a:srgbClr val="F5A800"/>
                        </a:buClr>
                        <a:buSzPts val="1050"/>
                        <a:buFont typeface="Poppins"/>
                        <a:buNone/>
                      </a:pPr>
                      <a:r>
                        <a:rPr b="1" lang="en" sz="1050" u="none" cap="none" strike="noStrike">
                          <a:solidFill>
                            <a:srgbClr val="F5A800"/>
                          </a:solidFill>
                          <a:latin typeface="Poppins"/>
                          <a:ea typeface="Poppins"/>
                          <a:cs typeface="Poppins"/>
                          <a:sym typeface="Poppins"/>
                        </a:rPr>
                        <a:t>Modbus Receiver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C8D8FF"/>
                        </a:buClr>
                        <a:buSzPts val="1050"/>
                        <a:buFont typeface="Poppins"/>
                        <a:buNone/>
                      </a:pPr>
                      <a:r>
                        <a:rPr b="0" lang="en" sz="1050" u="none" cap="none" strike="noStrike">
                          <a:solidFill>
                            <a:srgbClr val="C8D8FF"/>
                          </a:solidFill>
                          <a:latin typeface="Poppins"/>
                          <a:ea typeface="Poppins"/>
                          <a:cs typeface="Poppins"/>
                          <a:sym typeface="Poppins"/>
                        </a:rPr>
                        <a:t>OTel Collector receiver for Modbus devices and industrial equipment.</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ctr">
                        <a:lnSpc>
                          <a:spcPct val="100000"/>
                        </a:lnSpc>
                        <a:spcBef>
                          <a:spcPts val="0"/>
                        </a:spcBef>
                        <a:spcAft>
                          <a:spcPts val="0"/>
                        </a:spcAft>
                        <a:buClr>
                          <a:srgbClr val="F5A800"/>
                        </a:buClr>
                        <a:buSzPts val="1050"/>
                        <a:buFont typeface="Poppins"/>
                        <a:buNone/>
                      </a:pPr>
                      <a:r>
                        <a:rPr b="1" lang="en" sz="1050" u="none" cap="none" strike="noStrike">
                          <a:solidFill>
                            <a:srgbClr val="F5A800"/>
                          </a:solidFill>
                          <a:latin typeface="Poppins"/>
                          <a:ea typeface="Poppins"/>
                          <a:cs typeface="Poppins"/>
                          <a:sym typeface="Poppins"/>
                        </a:rPr>
                        <a:t>Experimental</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AABBDD"/>
                        </a:buClr>
                        <a:buSzPts val="1050"/>
                        <a:buFont typeface="Poppins"/>
                        <a:buNone/>
                      </a:pPr>
                      <a:r>
                        <a:rPr b="0" lang="en" sz="1050" u="none" cap="none" strike="noStrike">
                          <a:solidFill>
                            <a:srgbClr val="AABBDD"/>
                          </a:solidFill>
                          <a:latin typeface="Poppins"/>
                          <a:ea typeface="Poppins"/>
                          <a:cs typeface="Poppins"/>
                          <a:sym typeface="Poppins"/>
                        </a:rPr>
                        <a:t>lukaszciukaj</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r>
              <a:tr h="640000">
                <a:tc>
                  <a:txBody>
                    <a:bodyPr/>
                    <a:lstStyle/>
                    <a:p>
                      <a:pPr indent="0" lvl="0" marL="0" marR="0" rtl="0" algn="l">
                        <a:lnSpc>
                          <a:spcPct val="100000"/>
                        </a:lnSpc>
                        <a:spcBef>
                          <a:spcPts val="0"/>
                        </a:spcBef>
                        <a:spcAft>
                          <a:spcPts val="0"/>
                        </a:spcAft>
                        <a:buClr>
                          <a:srgbClr val="F5A800"/>
                        </a:buClr>
                        <a:buSzPts val="1050"/>
                        <a:buFont typeface="Poppins"/>
                        <a:buNone/>
                      </a:pPr>
                      <a:r>
                        <a:rPr b="1" lang="en" sz="1050" u="none" cap="none" strike="noStrike">
                          <a:solidFill>
                            <a:srgbClr val="F5A800"/>
                          </a:solidFill>
                          <a:latin typeface="Poppins"/>
                          <a:ea typeface="Poppins"/>
                          <a:cs typeface="Poppins"/>
                          <a:sym typeface="Poppins"/>
                        </a:rPr>
                        <a:t>OPC UA Receiver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C8D8FF"/>
                        </a:buClr>
                        <a:buSzPts val="1050"/>
                        <a:buFont typeface="Poppins"/>
                        <a:buNone/>
                      </a:pPr>
                      <a:r>
                        <a:rPr b="0" lang="en" sz="1050" u="none" cap="none" strike="noStrike">
                          <a:solidFill>
                            <a:srgbClr val="C8D8FF"/>
                          </a:solidFill>
                          <a:latin typeface="Poppins"/>
                          <a:ea typeface="Poppins"/>
                          <a:cs typeface="Poppins"/>
                          <a:sym typeface="Poppins"/>
                        </a:rPr>
                        <a:t>OTel Collector receiver for OPC UA servers and industrial systems.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ctr">
                        <a:lnSpc>
                          <a:spcPct val="100000"/>
                        </a:lnSpc>
                        <a:spcBef>
                          <a:spcPts val="0"/>
                        </a:spcBef>
                        <a:spcAft>
                          <a:spcPts val="0"/>
                        </a:spcAft>
                        <a:buClr>
                          <a:srgbClr val="F5A800"/>
                        </a:buClr>
                        <a:buSzPts val="1050"/>
                        <a:buFont typeface="Poppins"/>
                        <a:buNone/>
                      </a:pPr>
                      <a:r>
                        <a:rPr b="1" lang="en" sz="1050" u="none" cap="none" strike="noStrike">
                          <a:solidFill>
                            <a:srgbClr val="F5A800"/>
                          </a:solidFill>
                          <a:latin typeface="Poppins"/>
                          <a:ea typeface="Poppins"/>
                          <a:cs typeface="Poppins"/>
                          <a:sym typeface="Poppins"/>
                        </a:rPr>
                        <a:t>Experimental</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AABBDD"/>
                        </a:buClr>
                        <a:buSzPts val="1050"/>
                        <a:buFont typeface="Poppins"/>
                        <a:buNone/>
                      </a:pPr>
                      <a:r>
                        <a:rPr b="0" lang="en" sz="1050" u="none" cap="none" strike="noStrike">
                          <a:solidFill>
                            <a:srgbClr val="AABBDD"/>
                          </a:solidFill>
                          <a:latin typeface="Poppins"/>
                          <a:ea typeface="Poppins"/>
                          <a:cs typeface="Poppins"/>
                          <a:sym typeface="Poppins"/>
                        </a:rPr>
                        <a:t>bruegth</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r>
              <a:tr h="640000">
                <a:tc>
                  <a:txBody>
                    <a:bodyPr/>
                    <a:lstStyle/>
                    <a:p>
                      <a:pPr indent="0" lvl="0" marL="0" marR="0" rtl="0" algn="l">
                        <a:lnSpc>
                          <a:spcPct val="100000"/>
                        </a:lnSpc>
                        <a:spcBef>
                          <a:spcPts val="0"/>
                        </a:spcBef>
                        <a:spcAft>
                          <a:spcPts val="0"/>
                        </a:spcAft>
                        <a:buClr>
                          <a:srgbClr val="F5A800"/>
                        </a:buClr>
                        <a:buSzPts val="1050"/>
                        <a:buFont typeface="Poppins"/>
                        <a:buNone/>
                      </a:pPr>
                      <a:r>
                        <a:rPr b="1" lang="en" sz="1050" u="none" cap="none" strike="noStrike">
                          <a:solidFill>
                            <a:srgbClr val="F5A800"/>
                          </a:solidFill>
                          <a:latin typeface="Poppins"/>
                          <a:ea typeface="Poppins"/>
                          <a:cs typeface="Poppins"/>
                          <a:sym typeface="Poppins"/>
                        </a:rPr>
                        <a:t>MQTT Sparkplug Receiver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C8D8FF"/>
                        </a:buClr>
                        <a:buSzPts val="1050"/>
                        <a:buFont typeface="Poppins"/>
                        <a:buNone/>
                      </a:pPr>
                      <a:r>
                        <a:rPr b="0" lang="en" sz="1050" u="none" cap="none" strike="noStrike">
                          <a:solidFill>
                            <a:srgbClr val="C8D8FF"/>
                          </a:solidFill>
                          <a:latin typeface="Poppins"/>
                          <a:ea typeface="Poppins"/>
                          <a:cs typeface="Poppins"/>
                          <a:sym typeface="Poppins"/>
                        </a:rPr>
                        <a:t>MQTT Sparkplug protocol support for OpenTelemetry Collector.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ctr">
                        <a:lnSpc>
                          <a:spcPct val="100000"/>
                        </a:lnSpc>
                        <a:spcBef>
                          <a:spcPts val="0"/>
                        </a:spcBef>
                        <a:spcAft>
                          <a:spcPts val="0"/>
                        </a:spcAft>
                        <a:buClr>
                          <a:srgbClr val="4A9FE0"/>
                        </a:buClr>
                        <a:buSzPts val="1050"/>
                        <a:buFont typeface="Poppins"/>
                        <a:buNone/>
                      </a:pPr>
                      <a:r>
                        <a:rPr b="1" lang="en" sz="1050" u="none" cap="none" strike="noStrike">
                          <a:solidFill>
                            <a:srgbClr val="4A9FE0"/>
                          </a:solidFill>
                          <a:latin typeface="Poppins"/>
                          <a:ea typeface="Poppins"/>
                          <a:cs typeface="Poppins"/>
                          <a:sym typeface="Poppins"/>
                        </a:rPr>
                        <a:t>Active Dev</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AABBDD"/>
                        </a:buClr>
                        <a:buSzPts val="1050"/>
                        <a:buFont typeface="Poppins"/>
                        <a:buNone/>
                      </a:pPr>
                      <a:r>
                        <a:rPr b="0" lang="en" sz="1050" u="none" cap="none" strike="noStrike">
                          <a:solidFill>
                            <a:srgbClr val="AABBDD"/>
                          </a:solidFill>
                          <a:latin typeface="Poppins"/>
                          <a:ea typeface="Poppins"/>
                          <a:cs typeface="Poppins"/>
                          <a:sym typeface="Poppins"/>
                        </a:rPr>
                        <a:t>jmacd</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r>
              <a:tr h="640000">
                <a:tc>
                  <a:txBody>
                    <a:bodyPr/>
                    <a:lstStyle/>
                    <a:p>
                      <a:pPr indent="0" lvl="0" marL="0" marR="0" rtl="0" algn="l">
                        <a:lnSpc>
                          <a:spcPct val="100000"/>
                        </a:lnSpc>
                        <a:spcBef>
                          <a:spcPts val="0"/>
                        </a:spcBef>
                        <a:spcAft>
                          <a:spcPts val="0"/>
                        </a:spcAft>
                        <a:buClr>
                          <a:srgbClr val="F5A800"/>
                        </a:buClr>
                        <a:buSzPts val="1050"/>
                        <a:buFont typeface="Poppins"/>
                        <a:buNone/>
                      </a:pPr>
                      <a:r>
                        <a:rPr b="1" lang="en" sz="1050" u="none" cap="none" strike="noStrike">
                          <a:solidFill>
                            <a:srgbClr val="F5A800"/>
                          </a:solidFill>
                          <a:latin typeface="Poppins"/>
                          <a:ea typeface="Poppins"/>
                          <a:cs typeface="Poppins"/>
                          <a:sym typeface="Poppins"/>
                        </a:rPr>
                        <a:t>m</a:t>
                      </a:r>
                      <a:r>
                        <a:rPr b="1" lang="en" sz="1050" u="none" cap="none" strike="noStrike">
                          <a:solidFill>
                            <a:srgbClr val="F5A800"/>
                          </a:solidFill>
                          <a:latin typeface="Poppins"/>
                          <a:ea typeface="Poppins"/>
                          <a:cs typeface="Poppins"/>
                          <a:sym typeface="Poppins"/>
                        </a:rPr>
                        <a:t>qtt2otel (</a:t>
                      </a:r>
                      <a:r>
                        <a:rPr b="1" lang="en" sz="1050">
                          <a:solidFill>
                            <a:srgbClr val="F5A800"/>
                          </a:solidFill>
                          <a:latin typeface="Poppins"/>
                          <a:ea typeface="Poppins"/>
                          <a:cs typeface="Poppins"/>
                          <a:sym typeface="Poppins"/>
                        </a:rPr>
                        <a:t>bridge app)</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C8D8FF"/>
                        </a:buClr>
                        <a:buSzPts val="1050"/>
                        <a:buFont typeface="Poppins"/>
                        <a:buNone/>
                      </a:pPr>
                      <a:r>
                        <a:rPr b="0" lang="en" sz="1050" u="none" cap="none" strike="noStrike">
                          <a:solidFill>
                            <a:srgbClr val="C8D8FF"/>
                          </a:solidFill>
                          <a:latin typeface="Poppins"/>
                          <a:ea typeface="Poppins"/>
                          <a:cs typeface="Poppins"/>
                          <a:sym typeface="Poppins"/>
                        </a:rPr>
                        <a:t>MQTT-to-OTel bridge that transforms MQTT messages into OTel metrics and logs.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ctr">
                        <a:lnSpc>
                          <a:spcPct val="100000"/>
                        </a:lnSpc>
                        <a:spcBef>
                          <a:spcPts val="0"/>
                        </a:spcBef>
                        <a:spcAft>
                          <a:spcPts val="0"/>
                        </a:spcAft>
                        <a:buClr>
                          <a:srgbClr val="F5A800"/>
                        </a:buClr>
                        <a:buSzPts val="1050"/>
                        <a:buFont typeface="Poppins"/>
                        <a:buNone/>
                      </a:pPr>
                      <a:r>
                        <a:rPr b="1" lang="en" sz="1050" u="none" cap="none" strike="noStrike">
                          <a:solidFill>
                            <a:srgbClr val="F5A800"/>
                          </a:solidFill>
                          <a:latin typeface="Poppins"/>
                          <a:ea typeface="Poppins"/>
                          <a:cs typeface="Poppins"/>
                          <a:sym typeface="Poppins"/>
                        </a:rPr>
                        <a:t>Experimental</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AABBDD"/>
                        </a:buClr>
                        <a:buSzPts val="1050"/>
                        <a:buFont typeface="Poppins"/>
                        <a:buNone/>
                      </a:pPr>
                      <a:r>
                        <a:rPr b="0" lang="en" sz="1050" u="none" cap="none" strike="noStrike">
                          <a:solidFill>
                            <a:srgbClr val="AABBDD"/>
                          </a:solidFill>
                          <a:latin typeface="Poppins"/>
                          <a:ea typeface="Poppins"/>
                          <a:cs typeface="Poppins"/>
                          <a:sym typeface="Poppins"/>
                        </a:rPr>
                        <a:t>OSgAgA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rgbClr val="FFFFFF">
                        <a:alpha val="9020"/>
                      </a:srgbClr>
                    </a:solidFill>
                  </a:tcPr>
                </a:tc>
              </a:tr>
              <a:tr h="640000">
                <a:tc>
                  <a:txBody>
                    <a:bodyPr/>
                    <a:lstStyle/>
                    <a:p>
                      <a:pPr indent="0" lvl="0" marL="0" marR="0" rtl="0" algn="l">
                        <a:lnSpc>
                          <a:spcPct val="100000"/>
                        </a:lnSpc>
                        <a:spcBef>
                          <a:spcPts val="0"/>
                        </a:spcBef>
                        <a:spcAft>
                          <a:spcPts val="0"/>
                        </a:spcAft>
                        <a:buClr>
                          <a:srgbClr val="F5A800"/>
                        </a:buClr>
                        <a:buSzPts val="1050"/>
                        <a:buFont typeface="Poppins"/>
                        <a:buNone/>
                      </a:pPr>
                      <a:r>
                        <a:rPr b="1" lang="en" sz="1050" u="none" cap="none" strike="noStrike">
                          <a:solidFill>
                            <a:srgbClr val="F5A800"/>
                          </a:solidFill>
                          <a:latin typeface="Poppins"/>
                          <a:ea typeface="Poppins"/>
                          <a:cs typeface="Poppins"/>
                          <a:sym typeface="Poppins"/>
                        </a:rPr>
                        <a:t>EtherNet/IP Receiver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25098"/>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C8D8FF"/>
                        </a:buClr>
                        <a:buSzPts val="1050"/>
                        <a:buFont typeface="Poppins"/>
                        <a:buNone/>
                      </a:pPr>
                      <a:r>
                        <a:rPr b="0" lang="en" sz="1050" u="none" cap="none" strike="noStrike">
                          <a:solidFill>
                            <a:srgbClr val="C8D8FF"/>
                          </a:solidFill>
                          <a:latin typeface="Poppins"/>
                          <a:ea typeface="Poppins"/>
                          <a:cs typeface="Poppins"/>
                          <a:sym typeface="Poppins"/>
                        </a:rPr>
                        <a:t>OTel Collector receiver for EtherNet/IP</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25098"/>
                        </a:srgbClr>
                      </a:solidFill>
                      <a:prstDash val="solid"/>
                      <a:round/>
                      <a:headEnd len="sm" w="sm" type="none"/>
                      <a:tailEnd len="sm" w="sm" type="none"/>
                    </a:lnB>
                    <a:solidFill>
                      <a:srgbClr val="FFFFFF">
                        <a:alpha val="9020"/>
                      </a:srgbClr>
                    </a:solidFill>
                  </a:tcPr>
                </a:tc>
                <a:tc>
                  <a:txBody>
                    <a:bodyPr/>
                    <a:lstStyle/>
                    <a:p>
                      <a:pPr indent="0" lvl="0" marL="0" marR="0" rtl="0" algn="ctr">
                        <a:lnSpc>
                          <a:spcPct val="100000"/>
                        </a:lnSpc>
                        <a:spcBef>
                          <a:spcPts val="0"/>
                        </a:spcBef>
                        <a:spcAft>
                          <a:spcPts val="0"/>
                        </a:spcAft>
                        <a:buClr>
                          <a:srgbClr val="FF9F40"/>
                        </a:buClr>
                        <a:buSzPts val="1050"/>
                        <a:buFont typeface="Poppins"/>
                        <a:buNone/>
                      </a:pPr>
                      <a:r>
                        <a:rPr b="1" lang="en" sz="1050" u="none" cap="none" strike="noStrike">
                          <a:solidFill>
                            <a:srgbClr val="FF9F40"/>
                          </a:solidFill>
                          <a:latin typeface="Poppins"/>
                          <a:ea typeface="Poppins"/>
                          <a:cs typeface="Poppins"/>
                          <a:sym typeface="Poppins"/>
                        </a:rPr>
                        <a:t>Work in Progress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25098"/>
                        </a:srgbClr>
                      </a:solidFill>
                      <a:prstDash val="solid"/>
                      <a:round/>
                      <a:headEnd len="sm" w="sm" type="none"/>
                      <a:tailEnd len="sm" w="sm" type="none"/>
                    </a:lnB>
                    <a:solidFill>
                      <a:srgbClr val="FFFFFF">
                        <a:alpha val="9020"/>
                      </a:srgbClr>
                    </a:solidFill>
                  </a:tcPr>
                </a:tc>
                <a:tc>
                  <a:txBody>
                    <a:bodyPr/>
                    <a:lstStyle/>
                    <a:p>
                      <a:pPr indent="0" lvl="0" marL="0" marR="0" rtl="0" algn="l">
                        <a:lnSpc>
                          <a:spcPct val="100000"/>
                        </a:lnSpc>
                        <a:spcBef>
                          <a:spcPts val="0"/>
                        </a:spcBef>
                        <a:spcAft>
                          <a:spcPts val="0"/>
                        </a:spcAft>
                        <a:buClr>
                          <a:srgbClr val="AABBDD"/>
                        </a:buClr>
                        <a:buSzPts val="1050"/>
                        <a:buFont typeface="Poppins"/>
                        <a:buNone/>
                      </a:pPr>
                      <a:r>
                        <a:rPr b="0" lang="en" sz="1050" u="none" cap="none" strike="noStrike">
                          <a:solidFill>
                            <a:srgbClr val="AABBDD"/>
                          </a:solidFill>
                          <a:latin typeface="Poppins"/>
                          <a:ea typeface="Poppins"/>
                          <a:cs typeface="Poppins"/>
                          <a:sym typeface="Poppins"/>
                        </a:rPr>
                        <a:t>Community</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25098"/>
                        </a:srgbClr>
                      </a:solidFill>
                      <a:prstDash val="solid"/>
                      <a:round/>
                      <a:headEnd len="sm" w="sm" type="none"/>
                      <a:tailEnd len="sm" w="sm" type="none"/>
                    </a:lnB>
                    <a:solidFill>
                      <a:srgbClr val="FFFFFF">
                        <a:alpha val="9020"/>
                      </a:srgbClr>
                    </a:solidFill>
                  </a:tcPr>
                </a:tc>
              </a:tr>
            </a:tbl>
          </a:graphicData>
        </a:graphic>
      </p:graphicFrame>
      <p:sp>
        <p:nvSpPr>
          <p:cNvPr id="150" name="Google Shape;150;p20"/>
          <p:cNvSpPr txBox="1"/>
          <p:nvPr/>
        </p:nvSpPr>
        <p:spPr>
          <a:xfrm>
            <a:off x="320040" y="258572"/>
            <a:ext cx="85038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lang="en" sz="1200">
                <a:solidFill>
                  <a:srgbClr val="F5A800"/>
                </a:solidFill>
                <a:latin typeface="Poppins"/>
                <a:ea typeface="Poppins"/>
                <a:cs typeface="Poppins"/>
                <a:sym typeface="Poppins"/>
              </a:rPr>
              <a:t>Community Projects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154" name="Shape 154"/>
        <p:cNvGrpSpPr/>
        <p:nvPr/>
      </p:nvGrpSpPr>
      <p:grpSpPr>
        <a:xfrm>
          <a:off x="0" y="0"/>
          <a:ext cx="0" cy="0"/>
          <a:chOff x="0" y="0"/>
          <a:chExt cx="0" cy="0"/>
        </a:xfrm>
      </p:grpSpPr>
      <p:sp>
        <p:nvSpPr>
          <p:cNvPr id="155" name="Google Shape;155;p21"/>
          <p:cNvSpPr txBox="1"/>
          <p:nvPr/>
        </p:nvSpPr>
        <p:spPr>
          <a:xfrm>
            <a:off x="320040" y="258572"/>
            <a:ext cx="85038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lang="en" sz="1200">
                <a:solidFill>
                  <a:srgbClr val="F5A800"/>
                </a:solidFill>
                <a:latin typeface="Poppins"/>
                <a:ea typeface="Poppins"/>
                <a:cs typeface="Poppins"/>
                <a:sym typeface="Poppins"/>
              </a:rPr>
              <a:t>OpenTelemetry Industrial </a:t>
            </a:r>
            <a:r>
              <a:rPr b="1" i="0" lang="en" sz="1200" u="none" cap="none" strike="noStrike">
                <a:solidFill>
                  <a:srgbClr val="F5A800"/>
                </a:solidFill>
                <a:latin typeface="Poppins"/>
                <a:ea typeface="Poppins"/>
                <a:cs typeface="Poppins"/>
                <a:sym typeface="Poppins"/>
              </a:rPr>
              <a:t>Vision</a:t>
            </a:r>
            <a:endParaRPr/>
          </a:p>
        </p:txBody>
      </p:sp>
      <p:sp>
        <p:nvSpPr>
          <p:cNvPr id="156" name="Google Shape;156;p21"/>
          <p:cNvSpPr txBox="1"/>
          <p:nvPr/>
        </p:nvSpPr>
        <p:spPr>
          <a:xfrm>
            <a:off x="320040" y="550000"/>
            <a:ext cx="8503920" cy="43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i="0" lang="en" sz="2600" u="none" cap="none" strike="noStrike">
                <a:solidFill>
                  <a:srgbClr val="FFFFFF"/>
                </a:solidFill>
                <a:latin typeface="Poppins"/>
                <a:ea typeface="Poppins"/>
                <a:cs typeface="Poppins"/>
                <a:sym typeface="Poppins"/>
              </a:rPr>
              <a:t>Where We Are Headed</a:t>
            </a:r>
            <a:endParaRPr/>
          </a:p>
        </p:txBody>
      </p:sp>
      <p:sp>
        <p:nvSpPr>
          <p:cNvPr id="157" name="Google Shape;157;p21"/>
          <p:cNvSpPr/>
          <p:nvPr/>
        </p:nvSpPr>
        <p:spPr>
          <a:xfrm>
            <a:off x="320040" y="1100000"/>
            <a:ext cx="850392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8" name="Google Shape;158;p21"/>
          <p:cNvSpPr/>
          <p:nvPr/>
        </p:nvSpPr>
        <p:spPr>
          <a:xfrm>
            <a:off x="320040" y="1200000"/>
            <a:ext cx="4206241" cy="170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9" name="Google Shape;159;p21"/>
          <p:cNvSpPr/>
          <p:nvPr/>
        </p:nvSpPr>
        <p:spPr>
          <a:xfrm>
            <a:off x="4727447" y="1200000"/>
            <a:ext cx="4206241" cy="170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0" name="Google Shape;160;p21"/>
          <p:cNvSpPr/>
          <p:nvPr/>
        </p:nvSpPr>
        <p:spPr>
          <a:xfrm>
            <a:off x="320040" y="3060000"/>
            <a:ext cx="4206241" cy="170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1" name="Google Shape;161;p21"/>
          <p:cNvSpPr/>
          <p:nvPr/>
        </p:nvSpPr>
        <p:spPr>
          <a:xfrm>
            <a:off x="4727447" y="3060000"/>
            <a:ext cx="4206241" cy="170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2" name="Google Shape;162;p21"/>
          <p:cNvSpPr txBox="1"/>
          <p:nvPr/>
        </p:nvSpPr>
        <p:spPr>
          <a:xfrm>
            <a:off x="430040" y="1310000"/>
            <a:ext cx="3986241" cy="26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Receivers for Popular Protocols</a:t>
            </a:r>
            <a:endParaRPr/>
          </a:p>
        </p:txBody>
      </p:sp>
      <p:sp>
        <p:nvSpPr>
          <p:cNvPr id="163" name="Google Shape;163;p21"/>
          <p:cNvSpPr txBox="1"/>
          <p:nvPr/>
        </p:nvSpPr>
        <p:spPr>
          <a:xfrm>
            <a:off x="430040" y="1560000"/>
            <a:ext cx="39861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lang="en" sz="1100">
                <a:solidFill>
                  <a:srgbClr val="C8D8FF"/>
                </a:solidFill>
                <a:latin typeface="Poppins"/>
                <a:ea typeface="Poppins"/>
                <a:cs typeface="Poppins"/>
                <a:sym typeface="Poppins"/>
              </a:rPr>
              <a:t>Stable OpenTelemetry</a:t>
            </a:r>
            <a:r>
              <a:rPr b="0" i="0" lang="en" sz="1100" u="none" cap="none" strike="noStrike">
                <a:solidFill>
                  <a:srgbClr val="C8D8FF"/>
                </a:solidFill>
                <a:latin typeface="Poppins"/>
                <a:ea typeface="Poppins"/>
                <a:cs typeface="Poppins"/>
                <a:sym typeface="Poppins"/>
              </a:rPr>
              <a:t> Collector receivers for OPC UA, MQQT Sparkplug, Modbus, EtherNet/IP, </a:t>
            </a:r>
            <a:r>
              <a:rPr lang="en" sz="1100">
                <a:solidFill>
                  <a:srgbClr val="C8D8FF"/>
                </a:solidFill>
                <a:latin typeface="Poppins"/>
                <a:ea typeface="Poppins"/>
                <a:cs typeface="Poppins"/>
                <a:sym typeface="Poppins"/>
              </a:rPr>
              <a:t>Profinet and other popular industrial protocols.</a:t>
            </a:r>
            <a:endParaRPr/>
          </a:p>
        </p:txBody>
      </p:sp>
      <p:sp>
        <p:nvSpPr>
          <p:cNvPr id="164" name="Google Shape;164;p21"/>
          <p:cNvSpPr txBox="1"/>
          <p:nvPr/>
        </p:nvSpPr>
        <p:spPr>
          <a:xfrm>
            <a:off x="4837447" y="1310000"/>
            <a:ext cx="3986241" cy="26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OTel Industrial Collector Distribution</a:t>
            </a:r>
            <a:endParaRPr/>
          </a:p>
        </p:txBody>
      </p:sp>
      <p:sp>
        <p:nvSpPr>
          <p:cNvPr id="165" name="Google Shape;165;p21"/>
          <p:cNvSpPr txBox="1"/>
          <p:nvPr/>
        </p:nvSpPr>
        <p:spPr>
          <a:xfrm>
            <a:off x="4837447" y="1560000"/>
            <a:ext cx="39861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A purpose-built </a:t>
            </a:r>
            <a:r>
              <a:rPr lang="en" sz="1100">
                <a:solidFill>
                  <a:srgbClr val="C8D8FF"/>
                </a:solidFill>
                <a:latin typeface="Poppins"/>
                <a:ea typeface="Poppins"/>
                <a:cs typeface="Poppins"/>
                <a:sym typeface="Poppins"/>
              </a:rPr>
              <a:t>OpenTelemetry</a:t>
            </a:r>
            <a:r>
              <a:rPr b="0" i="0" lang="en" sz="1100" u="none" cap="none" strike="noStrike">
                <a:solidFill>
                  <a:srgbClr val="C8D8FF"/>
                </a:solidFill>
                <a:latin typeface="Poppins"/>
                <a:ea typeface="Poppins"/>
                <a:cs typeface="Poppins"/>
                <a:sym typeface="Poppins"/>
              </a:rPr>
              <a:t> Collector with industrial receivers pre-packaged. Easy to deploy at the factory edge.</a:t>
            </a:r>
            <a:endParaRPr/>
          </a:p>
        </p:txBody>
      </p:sp>
      <p:sp>
        <p:nvSpPr>
          <p:cNvPr id="166" name="Google Shape;166;p21"/>
          <p:cNvSpPr txBox="1"/>
          <p:nvPr/>
        </p:nvSpPr>
        <p:spPr>
          <a:xfrm>
            <a:off x="430040" y="3170000"/>
            <a:ext cx="3986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Become an </a:t>
            </a:r>
            <a:r>
              <a:rPr b="1" lang="en" sz="1300">
                <a:solidFill>
                  <a:srgbClr val="F5A800"/>
                </a:solidFill>
                <a:latin typeface="Poppins"/>
                <a:ea typeface="Poppins"/>
                <a:cs typeface="Poppins"/>
                <a:sym typeface="Poppins"/>
              </a:rPr>
              <a:t>o</a:t>
            </a:r>
            <a:r>
              <a:rPr b="1" i="0" lang="en" sz="1300" u="none" cap="none" strike="noStrike">
                <a:solidFill>
                  <a:srgbClr val="F5A800"/>
                </a:solidFill>
                <a:latin typeface="Poppins"/>
                <a:ea typeface="Poppins"/>
                <a:cs typeface="Poppins"/>
                <a:sym typeface="Poppins"/>
              </a:rPr>
              <a:t>fficial part of </a:t>
            </a:r>
            <a:r>
              <a:rPr b="1" lang="en" sz="1300">
                <a:solidFill>
                  <a:srgbClr val="F5A800"/>
                </a:solidFill>
                <a:latin typeface="Poppins"/>
                <a:ea typeface="Poppins"/>
                <a:cs typeface="Poppins"/>
                <a:sym typeface="Poppins"/>
              </a:rPr>
              <a:t>OpenTelemetry</a:t>
            </a:r>
            <a:endParaRPr/>
          </a:p>
        </p:txBody>
      </p:sp>
      <p:sp>
        <p:nvSpPr>
          <p:cNvPr id="167" name="Google Shape;167;p21"/>
          <p:cNvSpPr txBox="1"/>
          <p:nvPr/>
        </p:nvSpPr>
        <p:spPr>
          <a:xfrm>
            <a:off x="430040" y="3420000"/>
            <a:ext cx="39861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Formalize as a</a:t>
            </a:r>
            <a:r>
              <a:rPr lang="en" sz="1100">
                <a:solidFill>
                  <a:srgbClr val="C8D8FF"/>
                </a:solidFill>
                <a:latin typeface="Poppins"/>
                <a:ea typeface="Poppins"/>
                <a:cs typeface="Poppins"/>
                <a:sym typeface="Poppins"/>
              </a:rPr>
              <a:t>n official part of </a:t>
            </a:r>
            <a:r>
              <a:rPr b="0" i="0" lang="en" sz="1100" u="none" cap="none" strike="noStrike">
                <a:solidFill>
                  <a:srgbClr val="C8D8FF"/>
                </a:solidFill>
                <a:latin typeface="Poppins"/>
                <a:ea typeface="Poppins"/>
                <a:cs typeface="Poppins"/>
                <a:sym typeface="Poppins"/>
              </a:rPr>
              <a:t>OpenTelemetry project. </a:t>
            </a:r>
            <a:endParaRPr/>
          </a:p>
        </p:txBody>
      </p:sp>
      <p:sp>
        <p:nvSpPr>
          <p:cNvPr id="168" name="Google Shape;168;p21"/>
          <p:cNvSpPr txBox="1"/>
          <p:nvPr/>
        </p:nvSpPr>
        <p:spPr>
          <a:xfrm>
            <a:off x="4837447" y="3170000"/>
            <a:ext cx="3986241" cy="26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OTel Documentation for Industrial</a:t>
            </a:r>
            <a:endParaRPr/>
          </a:p>
        </p:txBody>
      </p:sp>
      <p:sp>
        <p:nvSpPr>
          <p:cNvPr id="169" name="Google Shape;169;p21"/>
          <p:cNvSpPr txBox="1"/>
          <p:nvPr/>
        </p:nvSpPr>
        <p:spPr>
          <a:xfrm>
            <a:off x="4837447" y="3420000"/>
            <a:ext cx="3986241" cy="120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A dedicated section on opentelemetry.io covering industrial use cases, onboarding guides, and protocol recipes.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173" name="Shape 173"/>
        <p:cNvGrpSpPr/>
        <p:nvPr/>
      </p:nvGrpSpPr>
      <p:grpSpPr>
        <a:xfrm>
          <a:off x="0" y="0"/>
          <a:ext cx="0" cy="0"/>
          <a:chOff x="0" y="0"/>
          <a:chExt cx="0" cy="0"/>
        </a:xfrm>
      </p:grpSpPr>
      <p:sp>
        <p:nvSpPr>
          <p:cNvPr id="174" name="Google Shape;174;p22"/>
          <p:cNvSpPr txBox="1"/>
          <p:nvPr/>
        </p:nvSpPr>
        <p:spPr>
          <a:xfrm>
            <a:off x="320040" y="550000"/>
            <a:ext cx="8503920" cy="43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i="0" lang="en" sz="2600" u="none" cap="none" strike="noStrike">
                <a:solidFill>
                  <a:srgbClr val="FFFFFF"/>
                </a:solidFill>
                <a:latin typeface="Poppins"/>
                <a:ea typeface="Poppins"/>
                <a:cs typeface="Poppins"/>
                <a:sym typeface="Poppins"/>
              </a:rPr>
              <a:t>Three Ways to Bring Industrial Data to OTel</a:t>
            </a:r>
            <a:endParaRPr/>
          </a:p>
        </p:txBody>
      </p:sp>
      <p:sp>
        <p:nvSpPr>
          <p:cNvPr id="175" name="Google Shape;175;p22"/>
          <p:cNvSpPr/>
          <p:nvPr/>
        </p:nvSpPr>
        <p:spPr>
          <a:xfrm>
            <a:off x="320040" y="1100000"/>
            <a:ext cx="850392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6" name="Google Shape;176;p22"/>
          <p:cNvSpPr/>
          <p:nvPr/>
        </p:nvSpPr>
        <p:spPr>
          <a:xfrm>
            <a:off x="320040" y="1200000"/>
            <a:ext cx="2743200" cy="37491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7" name="Google Shape;177;p22"/>
          <p:cNvSpPr/>
          <p:nvPr/>
        </p:nvSpPr>
        <p:spPr>
          <a:xfrm>
            <a:off x="3200400" y="1200000"/>
            <a:ext cx="2743200" cy="37491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8" name="Google Shape;178;p22"/>
          <p:cNvSpPr/>
          <p:nvPr/>
        </p:nvSpPr>
        <p:spPr>
          <a:xfrm>
            <a:off x="6080759" y="1200000"/>
            <a:ext cx="2743200" cy="37491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9" name="Google Shape;179;p22"/>
          <p:cNvSpPr txBox="1"/>
          <p:nvPr/>
        </p:nvSpPr>
        <p:spPr>
          <a:xfrm>
            <a:off x="430040" y="1310000"/>
            <a:ext cx="2523201" cy="20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000"/>
              <a:buFont typeface="Poppins"/>
              <a:buNone/>
            </a:pPr>
            <a:r>
              <a:rPr b="1" i="0" lang="en" sz="1000" u="none" cap="none" strike="noStrike">
                <a:solidFill>
                  <a:srgbClr val="F5A800"/>
                </a:solidFill>
                <a:latin typeface="Poppins"/>
                <a:ea typeface="Poppins"/>
                <a:cs typeface="Poppins"/>
                <a:sym typeface="Poppins"/>
              </a:rPr>
              <a:t>Model 1</a:t>
            </a:r>
            <a:endParaRPr/>
          </a:p>
        </p:txBody>
      </p:sp>
      <p:sp>
        <p:nvSpPr>
          <p:cNvPr id="180" name="Google Shape;180;p22"/>
          <p:cNvSpPr txBox="1"/>
          <p:nvPr/>
        </p:nvSpPr>
        <p:spPr>
          <a:xfrm>
            <a:off x="430040" y="1540000"/>
            <a:ext cx="2523201" cy="38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400"/>
              <a:buFont typeface="Poppins"/>
              <a:buNone/>
            </a:pPr>
            <a:r>
              <a:rPr b="1" i="0" lang="en" sz="1400" u="none" cap="none" strike="noStrike">
                <a:solidFill>
                  <a:srgbClr val="FFFFFF"/>
                </a:solidFill>
                <a:latin typeface="Poppins"/>
                <a:ea typeface="Poppins"/>
                <a:cs typeface="Poppins"/>
                <a:sym typeface="Poppins"/>
              </a:rPr>
              <a:t>OTel SDK + OTLP</a:t>
            </a:r>
            <a:endParaRPr/>
          </a:p>
        </p:txBody>
      </p:sp>
      <p:sp>
        <p:nvSpPr>
          <p:cNvPr id="181" name="Google Shape;181;p22"/>
          <p:cNvSpPr/>
          <p:nvPr/>
        </p:nvSpPr>
        <p:spPr>
          <a:xfrm>
            <a:off x="430040" y="2025414"/>
            <a:ext cx="252330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 name="Google Shape;182;p22"/>
          <p:cNvSpPr txBox="1"/>
          <p:nvPr/>
        </p:nvSpPr>
        <p:spPr>
          <a:xfrm>
            <a:off x="430040" y="2105414"/>
            <a:ext cx="2523300" cy="186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Industrial app or device uses the OTel SDK directly.</a:t>
            </a:r>
            <a:endParaRPr/>
          </a:p>
          <a:p>
            <a:pPr indent="0" lvl="0" marL="0" marR="0" rtl="0" algn="l">
              <a:lnSpc>
                <a:spcPct val="100000"/>
              </a:lnSpc>
              <a:spcBef>
                <a:spcPts val="0"/>
              </a:spcBef>
              <a:spcAft>
                <a:spcPts val="0"/>
              </a:spcAft>
              <a:buClr>
                <a:srgbClr val="FFFFFF"/>
              </a:buClr>
              <a:buSzPts val="400"/>
              <a:buFont typeface="Poppins"/>
              <a:buNone/>
            </a:pPr>
            <a:r>
              <a:rPr b="0" i="0" lang="en" sz="4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Sends telemetry via OTLP to a standard OTel Collector.</a:t>
            </a:r>
            <a:endParaRPr/>
          </a:p>
          <a:p>
            <a:pPr indent="0" lvl="0" marL="0" marR="0" rtl="0" algn="l">
              <a:lnSpc>
                <a:spcPct val="100000"/>
              </a:lnSpc>
              <a:spcBef>
                <a:spcPts val="0"/>
              </a:spcBef>
              <a:spcAft>
                <a:spcPts val="0"/>
              </a:spcAft>
              <a:buClr>
                <a:srgbClr val="FFFFFF"/>
              </a:buClr>
              <a:buSzPts val="400"/>
              <a:buFont typeface="Poppins"/>
              <a:buNone/>
            </a:pPr>
            <a:r>
              <a:rPr b="0" i="0" lang="en" sz="4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Best for modern, programmable edge devices with runtime SDK support.</a:t>
            </a:r>
            <a:endParaRPr/>
          </a:p>
          <a:p>
            <a:pPr indent="0" lvl="0" marL="0" marR="0" rtl="0" algn="l">
              <a:lnSpc>
                <a:spcPct val="100000"/>
              </a:lnSpc>
              <a:spcBef>
                <a:spcPts val="0"/>
              </a:spcBef>
              <a:spcAft>
                <a:spcPts val="0"/>
              </a:spcAft>
              <a:buClr>
                <a:srgbClr val="FFFFFF"/>
              </a:buClr>
              <a:buSzPts val="600"/>
              <a:buFont typeface="Poppins"/>
              <a:buNone/>
            </a:pPr>
            <a:r>
              <a:rPr b="0" i="0" lang="en" sz="6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8899CC"/>
              </a:buClr>
              <a:buSzPts val="1000"/>
              <a:buFont typeface="Poppins"/>
              <a:buNone/>
            </a:pPr>
            <a:r>
              <a:rPr lang="en" sz="1000">
                <a:solidFill>
                  <a:srgbClr val="8899CC"/>
                </a:solidFill>
                <a:latin typeface="Poppins"/>
                <a:ea typeface="Poppins"/>
                <a:cs typeface="Poppins"/>
                <a:sym typeface="Poppins"/>
              </a:rPr>
              <a:t>Requires SDK integration in the application or device. Best suited for modern, programmable systems.</a:t>
            </a:r>
            <a:endParaRPr/>
          </a:p>
        </p:txBody>
      </p:sp>
      <p:sp>
        <p:nvSpPr>
          <p:cNvPr id="183" name="Google Shape;183;p22"/>
          <p:cNvSpPr txBox="1"/>
          <p:nvPr/>
        </p:nvSpPr>
        <p:spPr>
          <a:xfrm>
            <a:off x="3310400" y="1310000"/>
            <a:ext cx="2523201" cy="20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000"/>
              <a:buFont typeface="Poppins"/>
              <a:buNone/>
            </a:pPr>
            <a:r>
              <a:rPr b="1" i="0" lang="en" sz="1000" u="none" cap="none" strike="noStrike">
                <a:solidFill>
                  <a:srgbClr val="F5A800"/>
                </a:solidFill>
                <a:latin typeface="Poppins"/>
                <a:ea typeface="Poppins"/>
                <a:cs typeface="Poppins"/>
                <a:sym typeface="Poppins"/>
              </a:rPr>
              <a:t>Model 2</a:t>
            </a:r>
            <a:endParaRPr/>
          </a:p>
        </p:txBody>
      </p:sp>
      <p:sp>
        <p:nvSpPr>
          <p:cNvPr id="184" name="Google Shape;184;p22"/>
          <p:cNvSpPr txBox="1"/>
          <p:nvPr/>
        </p:nvSpPr>
        <p:spPr>
          <a:xfrm>
            <a:off x="3310400" y="1540000"/>
            <a:ext cx="2523201" cy="38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400"/>
              <a:buFont typeface="Poppins"/>
              <a:buNone/>
            </a:pPr>
            <a:r>
              <a:rPr b="1" i="0" lang="en" sz="1400" u="none" cap="none" strike="noStrike">
                <a:solidFill>
                  <a:srgbClr val="FFFFFF"/>
                </a:solidFill>
                <a:latin typeface="Poppins"/>
                <a:ea typeface="Poppins"/>
                <a:cs typeface="Poppins"/>
                <a:sym typeface="Poppins"/>
              </a:rPr>
              <a:t>Industrial Protocol Receivers</a:t>
            </a:r>
            <a:endParaRPr/>
          </a:p>
        </p:txBody>
      </p:sp>
      <p:sp>
        <p:nvSpPr>
          <p:cNvPr id="185" name="Google Shape;185;p22"/>
          <p:cNvSpPr/>
          <p:nvPr/>
        </p:nvSpPr>
        <p:spPr>
          <a:xfrm>
            <a:off x="3310400" y="2018387"/>
            <a:ext cx="252330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6" name="Google Shape;186;p22"/>
          <p:cNvSpPr txBox="1"/>
          <p:nvPr/>
        </p:nvSpPr>
        <p:spPr>
          <a:xfrm>
            <a:off x="3310400" y="2098387"/>
            <a:ext cx="2523300" cy="1656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C8D8FF"/>
                </a:solidFill>
                <a:latin typeface="Poppins"/>
                <a:ea typeface="Poppins"/>
                <a:cs typeface="Poppins"/>
                <a:sym typeface="Poppins"/>
              </a:rPr>
              <a:t>Dedicated receivers on the OTel Collector translate industrial protocols into OTel signals.</a:t>
            </a:r>
            <a:endParaRPr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5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100">
                <a:solidFill>
                  <a:srgbClr val="C8D8FF"/>
                </a:solidFill>
                <a:latin typeface="Poppins"/>
                <a:ea typeface="Poppins"/>
                <a:cs typeface="Poppins"/>
                <a:sym typeface="Poppins"/>
              </a:rPr>
              <a:t>No SDK changes needed in devices. The Collector performs the translation.</a:t>
            </a:r>
            <a:endParaRPr sz="1100">
              <a:solidFill>
                <a:srgbClr val="C8D8FF"/>
              </a:solidFill>
              <a:latin typeface="Poppins"/>
              <a:ea typeface="Poppins"/>
              <a:cs typeface="Poppins"/>
              <a:sym typeface="Poppins"/>
            </a:endParaRPr>
          </a:p>
          <a:p>
            <a:pPr indent="0" lvl="0" marL="0" marR="0" rtl="0" algn="l">
              <a:lnSpc>
                <a:spcPct val="100000"/>
              </a:lnSpc>
              <a:spcBef>
                <a:spcPts val="0"/>
              </a:spcBef>
              <a:spcAft>
                <a:spcPts val="0"/>
              </a:spcAft>
              <a:buClr>
                <a:srgbClr val="FFFFFF"/>
              </a:buClr>
              <a:buSzPts val="600"/>
              <a:buFont typeface="Poppins"/>
              <a:buNone/>
            </a:pPr>
            <a:r>
              <a:rPr b="0" i="0" lang="en" sz="6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8899CC"/>
              </a:buClr>
              <a:buSzPts val="1000"/>
              <a:buFont typeface="Poppins"/>
              <a:buNone/>
            </a:pPr>
            <a:r>
              <a:rPr lang="en" sz="1000">
                <a:solidFill>
                  <a:srgbClr val="8899CC"/>
                </a:solidFill>
                <a:latin typeface="Poppins"/>
                <a:ea typeface="Poppins"/>
                <a:cs typeface="Poppins"/>
                <a:sym typeface="Poppins"/>
              </a:rPr>
              <a:t>Ideal for legacy or proprietary systems where SDK integration is not possible.</a:t>
            </a:r>
            <a:endParaRPr/>
          </a:p>
        </p:txBody>
      </p:sp>
      <p:sp>
        <p:nvSpPr>
          <p:cNvPr id="187" name="Google Shape;187;p22"/>
          <p:cNvSpPr txBox="1"/>
          <p:nvPr/>
        </p:nvSpPr>
        <p:spPr>
          <a:xfrm>
            <a:off x="6190759" y="1310000"/>
            <a:ext cx="2523201" cy="20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000"/>
              <a:buFont typeface="Poppins"/>
              <a:buNone/>
            </a:pPr>
            <a:r>
              <a:rPr b="1" i="0" lang="en" sz="1000" u="none" cap="none" strike="noStrike">
                <a:solidFill>
                  <a:srgbClr val="F5A800"/>
                </a:solidFill>
                <a:latin typeface="Poppins"/>
                <a:ea typeface="Poppins"/>
                <a:cs typeface="Poppins"/>
                <a:sym typeface="Poppins"/>
              </a:rPr>
              <a:t>Model 3</a:t>
            </a:r>
            <a:endParaRPr/>
          </a:p>
        </p:txBody>
      </p:sp>
      <p:sp>
        <p:nvSpPr>
          <p:cNvPr id="188" name="Google Shape;188;p22"/>
          <p:cNvSpPr txBox="1"/>
          <p:nvPr/>
        </p:nvSpPr>
        <p:spPr>
          <a:xfrm>
            <a:off x="6190759" y="1540000"/>
            <a:ext cx="25233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400"/>
              <a:buFont typeface="Poppins"/>
              <a:buNone/>
            </a:pPr>
            <a:r>
              <a:rPr b="1" i="0" lang="en" sz="1400" u="none" cap="none" strike="noStrike">
                <a:solidFill>
                  <a:srgbClr val="FFFFFF"/>
                </a:solidFill>
                <a:latin typeface="Poppins"/>
                <a:ea typeface="Poppins"/>
                <a:cs typeface="Poppins"/>
                <a:sym typeface="Poppins"/>
              </a:rPr>
              <a:t>Bridge Application</a:t>
            </a:r>
            <a:endParaRPr/>
          </a:p>
        </p:txBody>
      </p:sp>
      <p:sp>
        <p:nvSpPr>
          <p:cNvPr id="189" name="Google Shape;189;p22"/>
          <p:cNvSpPr/>
          <p:nvPr/>
        </p:nvSpPr>
        <p:spPr>
          <a:xfrm>
            <a:off x="6190759" y="2011361"/>
            <a:ext cx="252330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0" name="Google Shape;190;p22"/>
          <p:cNvSpPr txBox="1"/>
          <p:nvPr/>
        </p:nvSpPr>
        <p:spPr>
          <a:xfrm>
            <a:off x="6190759" y="2091361"/>
            <a:ext cx="2523300" cy="203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A separate bridge application reads industrial protocol data and converts it to OTLP.</a:t>
            </a:r>
            <a:endParaRPr/>
          </a:p>
          <a:p>
            <a:pPr indent="0" lvl="0" marL="0" marR="0" rtl="0" algn="l">
              <a:lnSpc>
                <a:spcPct val="100000"/>
              </a:lnSpc>
              <a:spcBef>
                <a:spcPts val="0"/>
              </a:spcBef>
              <a:spcAft>
                <a:spcPts val="0"/>
              </a:spcAft>
              <a:buClr>
                <a:srgbClr val="FFFFFF"/>
              </a:buClr>
              <a:buSzPts val="400"/>
              <a:buFont typeface="Poppins"/>
              <a:buNone/>
            </a:pPr>
            <a:r>
              <a:rPr b="0" i="0" lang="en" sz="4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Forwards to any standard OTel Collector.</a:t>
            </a:r>
            <a:endParaRPr/>
          </a:p>
          <a:p>
            <a:pPr indent="0" lvl="0" marL="0" marR="0" rtl="0" algn="l">
              <a:lnSpc>
                <a:spcPct val="100000"/>
              </a:lnSpc>
              <a:spcBef>
                <a:spcPts val="0"/>
              </a:spcBef>
              <a:spcAft>
                <a:spcPts val="0"/>
              </a:spcAft>
              <a:buClr>
                <a:srgbClr val="FFFFFF"/>
              </a:buClr>
              <a:buSzPts val="400"/>
              <a:buFont typeface="Poppins"/>
              <a:buNone/>
            </a:pPr>
            <a:r>
              <a:rPr b="0" i="0" lang="en" sz="4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Works with any backend, any protocol</a:t>
            </a:r>
            <a:r>
              <a:rPr lang="en" sz="1100">
                <a:solidFill>
                  <a:srgbClr val="C8D8FF"/>
                </a:solidFill>
                <a:latin typeface="Poppins"/>
                <a:ea typeface="Poppins"/>
                <a:cs typeface="Poppins"/>
                <a:sym typeface="Poppins"/>
              </a:rPr>
              <a:t> if library for industrial protocol is available.</a:t>
            </a:r>
            <a:endParaRPr/>
          </a:p>
          <a:p>
            <a:pPr indent="0" lvl="0" marL="0" marR="0" rtl="0" algn="l">
              <a:lnSpc>
                <a:spcPct val="100000"/>
              </a:lnSpc>
              <a:spcBef>
                <a:spcPts val="0"/>
              </a:spcBef>
              <a:spcAft>
                <a:spcPts val="0"/>
              </a:spcAft>
              <a:buClr>
                <a:srgbClr val="FFFFFF"/>
              </a:buClr>
              <a:buSzPts val="600"/>
              <a:buFont typeface="Poppins"/>
              <a:buNone/>
            </a:pPr>
            <a:r>
              <a:rPr b="0" i="0" lang="en" sz="600" u="none" cap="none" strike="noStrike">
                <a:solidFill>
                  <a:srgbClr val="FFFFFF"/>
                </a:solidFill>
                <a:latin typeface="Poppins"/>
                <a:ea typeface="Poppins"/>
                <a:cs typeface="Poppins"/>
                <a:sym typeface="Poppins"/>
              </a:rPr>
              <a:t> </a:t>
            </a:r>
            <a:endParaRPr/>
          </a:p>
          <a:p>
            <a:pPr indent="0" lvl="0" marL="0" marR="0" rtl="0" algn="l">
              <a:lnSpc>
                <a:spcPct val="100000"/>
              </a:lnSpc>
              <a:spcBef>
                <a:spcPts val="0"/>
              </a:spcBef>
              <a:spcAft>
                <a:spcPts val="0"/>
              </a:spcAft>
              <a:buClr>
                <a:srgbClr val="8899CC"/>
              </a:buClr>
              <a:buSzPts val="1000"/>
              <a:buFont typeface="Poppins"/>
              <a:buNone/>
            </a:pPr>
            <a:r>
              <a:rPr lang="en" sz="1000">
                <a:solidFill>
                  <a:srgbClr val="8899CC"/>
                </a:solidFill>
                <a:latin typeface="Poppins"/>
                <a:ea typeface="Poppins"/>
                <a:cs typeface="Poppins"/>
                <a:sym typeface="Poppins"/>
              </a:rPr>
              <a:t>Ideal when a native Collector receiver is unavailable or custom processing is required.</a:t>
            </a:r>
            <a:endParaRPr/>
          </a:p>
        </p:txBody>
      </p:sp>
      <p:sp>
        <p:nvSpPr>
          <p:cNvPr id="191" name="Google Shape;191;p22"/>
          <p:cNvSpPr txBox="1"/>
          <p:nvPr/>
        </p:nvSpPr>
        <p:spPr>
          <a:xfrm>
            <a:off x="320040" y="258572"/>
            <a:ext cx="85038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lang="en" sz="1200">
                <a:solidFill>
                  <a:srgbClr val="F5A800"/>
                </a:solidFill>
                <a:latin typeface="Poppins"/>
                <a:ea typeface="Poppins"/>
                <a:cs typeface="Poppins"/>
                <a:sym typeface="Poppins"/>
              </a:rPr>
              <a:t>Integration Models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195" name="Shape 195"/>
        <p:cNvGrpSpPr/>
        <p:nvPr/>
      </p:nvGrpSpPr>
      <p:grpSpPr>
        <a:xfrm>
          <a:off x="0" y="0"/>
          <a:ext cx="0" cy="0"/>
          <a:chOff x="0" y="0"/>
          <a:chExt cx="0" cy="0"/>
        </a:xfrm>
      </p:grpSpPr>
      <p:sp>
        <p:nvSpPr>
          <p:cNvPr id="196" name="Google Shape;196;p23"/>
          <p:cNvSpPr txBox="1"/>
          <p:nvPr/>
        </p:nvSpPr>
        <p:spPr>
          <a:xfrm>
            <a:off x="320040" y="550000"/>
            <a:ext cx="8503920" cy="43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i="0" lang="en" sz="2600" u="none" cap="none" strike="noStrike">
                <a:solidFill>
                  <a:srgbClr val="FFFFFF"/>
                </a:solidFill>
                <a:latin typeface="Poppins"/>
                <a:ea typeface="Poppins"/>
                <a:cs typeface="Poppins"/>
                <a:sym typeface="Poppins"/>
              </a:rPr>
              <a:t>OpenTelemetry Collector</a:t>
            </a:r>
            <a:endParaRPr/>
          </a:p>
        </p:txBody>
      </p:sp>
      <p:sp>
        <p:nvSpPr>
          <p:cNvPr id="197" name="Google Shape;197;p23"/>
          <p:cNvSpPr/>
          <p:nvPr/>
        </p:nvSpPr>
        <p:spPr>
          <a:xfrm>
            <a:off x="320040" y="1100000"/>
            <a:ext cx="850392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98" name="Google Shape;198;p23"/>
          <p:cNvPicPr preferRelativeResize="0"/>
          <p:nvPr/>
        </p:nvPicPr>
        <p:blipFill>
          <a:blip r:embed="rId3">
            <a:alphaModFix/>
          </a:blip>
          <a:stretch>
            <a:fillRect/>
          </a:stretch>
        </p:blipFill>
        <p:spPr>
          <a:xfrm>
            <a:off x="1002625" y="1290500"/>
            <a:ext cx="6972247" cy="3700602"/>
          </a:xfrm>
          <a:prstGeom prst="rect">
            <a:avLst/>
          </a:prstGeom>
          <a:noFill/>
          <a:ln>
            <a:noFill/>
          </a:ln>
        </p:spPr>
      </p:pic>
      <p:sp>
        <p:nvSpPr>
          <p:cNvPr id="199" name="Google Shape;199;p23"/>
          <p:cNvSpPr txBox="1"/>
          <p:nvPr/>
        </p:nvSpPr>
        <p:spPr>
          <a:xfrm>
            <a:off x="320040" y="258572"/>
            <a:ext cx="85038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lang="en" sz="1200">
                <a:solidFill>
                  <a:srgbClr val="F5A800"/>
                </a:solidFill>
                <a:latin typeface="Poppins"/>
                <a:ea typeface="Poppins"/>
                <a:cs typeface="Poppins"/>
                <a:sym typeface="Poppins"/>
              </a:rPr>
              <a:t>Collector Architecture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203" name="Shape 203"/>
        <p:cNvGrpSpPr/>
        <p:nvPr/>
      </p:nvGrpSpPr>
      <p:grpSpPr>
        <a:xfrm>
          <a:off x="0" y="0"/>
          <a:ext cx="0" cy="0"/>
          <a:chOff x="0" y="0"/>
          <a:chExt cx="0" cy="0"/>
        </a:xfrm>
      </p:grpSpPr>
      <p:sp>
        <p:nvSpPr>
          <p:cNvPr id="204" name="Google Shape;204;p24"/>
          <p:cNvSpPr txBox="1"/>
          <p:nvPr/>
        </p:nvSpPr>
        <p:spPr>
          <a:xfrm>
            <a:off x="320040" y="258572"/>
            <a:ext cx="8503920" cy="20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i="0" lang="en" sz="1200" u="none" cap="none" strike="noStrike">
                <a:solidFill>
                  <a:srgbClr val="F5A800"/>
                </a:solidFill>
                <a:latin typeface="Poppins"/>
                <a:ea typeface="Poppins"/>
                <a:cs typeface="Poppins"/>
                <a:sym typeface="Poppins"/>
              </a:rPr>
              <a:t>Semantic Conventions</a:t>
            </a:r>
            <a:endParaRPr/>
          </a:p>
        </p:txBody>
      </p:sp>
      <p:sp>
        <p:nvSpPr>
          <p:cNvPr id="205" name="Google Shape;205;p24"/>
          <p:cNvSpPr txBox="1"/>
          <p:nvPr/>
        </p:nvSpPr>
        <p:spPr>
          <a:xfrm>
            <a:off x="320040" y="550000"/>
            <a:ext cx="8503800" cy="400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lang="en" sz="2600">
                <a:solidFill>
                  <a:srgbClr val="FFFFFF"/>
                </a:solidFill>
                <a:latin typeface="Poppins"/>
                <a:ea typeface="Poppins"/>
                <a:cs typeface="Poppins"/>
                <a:sym typeface="Poppins"/>
              </a:rPr>
              <a:t>Industrial Semantic Conventions</a:t>
            </a:r>
            <a:endParaRPr/>
          </a:p>
        </p:txBody>
      </p:sp>
      <p:sp>
        <p:nvSpPr>
          <p:cNvPr id="206" name="Google Shape;206;p24"/>
          <p:cNvSpPr/>
          <p:nvPr/>
        </p:nvSpPr>
        <p:spPr>
          <a:xfrm>
            <a:off x="320040" y="1100000"/>
            <a:ext cx="850392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7" name="Google Shape;207;p24"/>
          <p:cNvSpPr/>
          <p:nvPr/>
        </p:nvSpPr>
        <p:spPr>
          <a:xfrm>
            <a:off x="320040" y="1220000"/>
            <a:ext cx="3900000" cy="372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8" name="Google Shape;208;p24"/>
          <p:cNvSpPr/>
          <p:nvPr/>
        </p:nvSpPr>
        <p:spPr>
          <a:xfrm>
            <a:off x="4490000" y="1220000"/>
            <a:ext cx="4380000" cy="372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9" name="Google Shape;209;p24"/>
          <p:cNvSpPr txBox="1"/>
          <p:nvPr/>
        </p:nvSpPr>
        <p:spPr>
          <a:xfrm>
            <a:off x="430040" y="1330000"/>
            <a:ext cx="3680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300"/>
              <a:buFont typeface="Poppins"/>
              <a:buNone/>
            </a:pPr>
            <a:r>
              <a:rPr b="1" lang="en" sz="1300">
                <a:solidFill>
                  <a:srgbClr val="F5A800"/>
                </a:solidFill>
                <a:latin typeface="Poppins"/>
                <a:ea typeface="Poppins"/>
                <a:cs typeface="Poppins"/>
                <a:sym typeface="Poppins"/>
              </a:rPr>
              <a:t>What are Semantic Conventions?</a:t>
            </a:r>
            <a:endParaRPr/>
          </a:p>
        </p:txBody>
      </p:sp>
      <p:sp>
        <p:nvSpPr>
          <p:cNvPr id="210" name="Google Shape;210;p24"/>
          <p:cNvSpPr txBox="1"/>
          <p:nvPr/>
        </p:nvSpPr>
        <p:spPr>
          <a:xfrm>
            <a:off x="430040" y="1670000"/>
            <a:ext cx="36801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lang="en" sz="1100">
                <a:solidFill>
                  <a:srgbClr val="C8D8FF"/>
                </a:solidFill>
                <a:latin typeface="Poppins"/>
                <a:ea typeface="Poppins"/>
                <a:cs typeface="Poppins"/>
                <a:sym typeface="Poppins"/>
              </a:rPr>
              <a:t>A shared vocabulary for telemetry that defines what data is called, what it means, and how it is represented. Semantic conventions ensure telemetry is consistent and understandable across applications, systems, and observability tools.</a:t>
            </a:r>
            <a:endParaRPr/>
          </a:p>
        </p:txBody>
      </p:sp>
      <p:sp>
        <p:nvSpPr>
          <p:cNvPr id="211" name="Google Shape;211;p24"/>
          <p:cNvSpPr txBox="1"/>
          <p:nvPr/>
        </p:nvSpPr>
        <p:spPr>
          <a:xfrm>
            <a:off x="429990" y="2685650"/>
            <a:ext cx="3680100" cy="169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100"/>
              <a:buFont typeface="Poppins"/>
              <a:buNone/>
            </a:pPr>
            <a:r>
              <a:rPr b="1" lang="en" sz="1100">
                <a:solidFill>
                  <a:srgbClr val="FFFFFF"/>
                </a:solidFill>
                <a:latin typeface="Poppins"/>
                <a:ea typeface="Poppins"/>
                <a:cs typeface="Poppins"/>
                <a:sym typeface="Poppins"/>
              </a:rPr>
              <a:t>Examples</a:t>
            </a:r>
            <a:endParaRPr/>
          </a:p>
        </p:txBody>
      </p:sp>
      <p:sp>
        <p:nvSpPr>
          <p:cNvPr id="212" name="Google Shape;212;p24"/>
          <p:cNvSpPr txBox="1"/>
          <p:nvPr/>
        </p:nvSpPr>
        <p:spPr>
          <a:xfrm>
            <a:off x="429990" y="2985925"/>
            <a:ext cx="3680100" cy="1215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000">
                <a:solidFill>
                  <a:srgbClr val="F5A800"/>
                </a:solidFill>
                <a:latin typeface="Poppins"/>
                <a:ea typeface="Poppins"/>
                <a:cs typeface="Poppins"/>
                <a:sym typeface="Poppins"/>
              </a:rPr>
              <a:t>Telemetry Concept	Semantic Convention</a:t>
            </a:r>
            <a:endParaRPr b="1" sz="1000">
              <a:solidFill>
                <a:srgbClr val="F5A800"/>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000">
                <a:solidFill>
                  <a:srgbClr val="F5A800"/>
                </a:solidFill>
                <a:latin typeface="Poppins"/>
                <a:ea typeface="Poppins"/>
                <a:cs typeface="Poppins"/>
                <a:sym typeface="Poppins"/>
              </a:rPr>
              <a:t>Service name		service.name</a:t>
            </a:r>
            <a:endParaRPr sz="1000">
              <a:solidFill>
                <a:srgbClr val="F5A800"/>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000">
                <a:solidFill>
                  <a:srgbClr val="F5A800"/>
                </a:solidFill>
                <a:latin typeface="Poppins"/>
                <a:ea typeface="Poppins"/>
                <a:cs typeface="Poppins"/>
                <a:sym typeface="Poppins"/>
              </a:rPr>
              <a:t>Service version	service.version</a:t>
            </a:r>
            <a:endParaRPr sz="1000">
              <a:solidFill>
                <a:srgbClr val="F5A800"/>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000">
                <a:solidFill>
                  <a:srgbClr val="F5A800"/>
                </a:solidFill>
                <a:latin typeface="Poppins"/>
                <a:ea typeface="Poppins"/>
                <a:cs typeface="Poppins"/>
                <a:sym typeface="Poppins"/>
              </a:rPr>
              <a:t>Host name		host.name</a:t>
            </a:r>
            <a:endParaRPr sz="1000">
              <a:solidFill>
                <a:srgbClr val="F5A800"/>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000">
                <a:solidFill>
                  <a:srgbClr val="F5A800"/>
                </a:solidFill>
                <a:latin typeface="Poppins"/>
                <a:ea typeface="Poppins"/>
                <a:cs typeface="Poppins"/>
                <a:sym typeface="Poppins"/>
              </a:rPr>
              <a:t>Cloud provider	cloud.provider</a:t>
            </a:r>
            <a:endParaRPr sz="1000">
              <a:solidFill>
                <a:srgbClr val="F5A800"/>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000">
                <a:solidFill>
                  <a:srgbClr val="F5A800"/>
                </a:solidFill>
                <a:latin typeface="Poppins"/>
                <a:ea typeface="Poppins"/>
                <a:cs typeface="Poppins"/>
                <a:sym typeface="Poppins"/>
              </a:rPr>
              <a:t>HTTP method		http.request.method</a:t>
            </a:r>
            <a:endParaRPr sz="1000">
              <a:solidFill>
                <a:srgbClr val="F5A800"/>
              </a:solidFill>
              <a:latin typeface="Poppins"/>
              <a:ea typeface="Poppins"/>
              <a:cs typeface="Poppins"/>
              <a:sym typeface="Poppins"/>
            </a:endParaRPr>
          </a:p>
          <a:p>
            <a:pPr indent="0" lvl="0" marL="0" marR="0" rtl="0" algn="l">
              <a:lnSpc>
                <a:spcPct val="100000"/>
              </a:lnSpc>
              <a:spcBef>
                <a:spcPts val="0"/>
              </a:spcBef>
              <a:spcAft>
                <a:spcPts val="0"/>
              </a:spcAft>
              <a:buClr>
                <a:srgbClr val="F5A800"/>
              </a:buClr>
              <a:buSzPts val="1000"/>
              <a:buFont typeface="Poppins"/>
              <a:buNone/>
            </a:pPr>
            <a:r>
              <a:t/>
            </a:r>
            <a:endParaRPr sz="1000">
              <a:solidFill>
                <a:srgbClr val="F5A800"/>
              </a:solidFill>
              <a:latin typeface="Poppins"/>
              <a:ea typeface="Poppins"/>
              <a:cs typeface="Poppins"/>
              <a:sym typeface="Poppins"/>
            </a:endParaRPr>
          </a:p>
        </p:txBody>
      </p:sp>
      <p:sp>
        <p:nvSpPr>
          <p:cNvPr id="213" name="Google Shape;213;p24"/>
          <p:cNvSpPr txBox="1"/>
          <p:nvPr/>
        </p:nvSpPr>
        <p:spPr>
          <a:xfrm>
            <a:off x="4600000" y="1330000"/>
            <a:ext cx="4160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300"/>
              <a:buFont typeface="Poppins"/>
              <a:buNone/>
            </a:pPr>
            <a:r>
              <a:rPr b="1" lang="en" sz="1300">
                <a:solidFill>
                  <a:srgbClr val="F5A800"/>
                </a:solidFill>
                <a:latin typeface="Poppins"/>
                <a:ea typeface="Poppins"/>
                <a:cs typeface="Poppins"/>
                <a:sym typeface="Poppins"/>
              </a:rPr>
              <a:t>Why It Matters for OpenTelemetry Industrial</a:t>
            </a:r>
            <a:endParaRPr/>
          </a:p>
        </p:txBody>
      </p:sp>
      <p:sp>
        <p:nvSpPr>
          <p:cNvPr id="214" name="Google Shape;214;p24"/>
          <p:cNvSpPr txBox="1"/>
          <p:nvPr/>
        </p:nvSpPr>
        <p:spPr>
          <a:xfrm>
            <a:off x="4599950" y="1670000"/>
            <a:ext cx="4160100" cy="2895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100">
                <a:solidFill>
                  <a:srgbClr val="C8D8FF"/>
                </a:solidFill>
                <a:latin typeface="Poppins"/>
                <a:ea typeface="Poppins"/>
                <a:cs typeface="Poppins"/>
                <a:sym typeface="Poppins"/>
              </a:rPr>
              <a:t>Enable vendor-neutral industrial telemetry</a:t>
            </a:r>
            <a:endParaRPr b="1"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100">
                <a:solidFill>
                  <a:srgbClr val="C8D8FF"/>
                </a:solidFill>
                <a:latin typeface="Poppins"/>
                <a:ea typeface="Poppins"/>
                <a:cs typeface="Poppins"/>
                <a:sym typeface="Poppins"/>
              </a:rPr>
              <a:t>A common data model allows telemetry from different industrial protocols and vendors to be represented consistently.</a:t>
            </a:r>
            <a:br>
              <a:rPr lang="en" sz="1100">
                <a:solidFill>
                  <a:srgbClr val="C8D8FF"/>
                </a:solidFill>
                <a:latin typeface="Poppins"/>
                <a:ea typeface="Poppins"/>
                <a:cs typeface="Poppins"/>
                <a:sym typeface="Poppins"/>
              </a:rPr>
            </a:br>
            <a:endParaRPr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 sz="1100">
                <a:solidFill>
                  <a:srgbClr val="C8D8FF"/>
                </a:solidFill>
                <a:latin typeface="Poppins"/>
                <a:ea typeface="Poppins"/>
                <a:cs typeface="Poppins"/>
                <a:sym typeface="Poppins"/>
              </a:rPr>
              <a:t>Build reusable OpenTelemetry integrations</a:t>
            </a:r>
            <a:endParaRPr b="1"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100">
                <a:solidFill>
                  <a:srgbClr val="C8D8FF"/>
                </a:solidFill>
                <a:latin typeface="Poppins"/>
                <a:ea typeface="Poppins"/>
                <a:cs typeface="Poppins"/>
                <a:sym typeface="Poppins"/>
              </a:rPr>
              <a:t>Receivers, processors, exporters, dashboards, and tooling can work across industrial technologies without protocol-specific customizations.</a:t>
            </a:r>
            <a:br>
              <a:rPr lang="en" sz="1100">
                <a:solidFill>
                  <a:srgbClr val="C8D8FF"/>
                </a:solidFill>
                <a:latin typeface="Poppins"/>
                <a:ea typeface="Poppins"/>
                <a:cs typeface="Poppins"/>
                <a:sym typeface="Poppins"/>
              </a:rPr>
            </a:br>
            <a:endParaRPr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 sz="1100">
                <a:solidFill>
                  <a:srgbClr val="C8D8FF"/>
                </a:solidFill>
                <a:latin typeface="Poppins"/>
                <a:ea typeface="Poppins"/>
                <a:cs typeface="Poppins"/>
                <a:sym typeface="Poppins"/>
              </a:rPr>
              <a:t>Build once, use everywhere</a:t>
            </a:r>
            <a:endParaRPr b="1"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100">
                <a:solidFill>
                  <a:srgbClr val="C8D8FF"/>
                </a:solidFill>
                <a:latin typeface="Poppins"/>
                <a:ea typeface="Poppins"/>
                <a:cs typeface="Poppins"/>
                <a:sym typeface="Poppins"/>
              </a:rPr>
              <a:t>Defining conventions early helps avoid incompatible implementations as OpenTelemetry adoption grows across industrial environments.</a:t>
            </a:r>
            <a:endParaRPr sz="1100">
              <a:solidFill>
                <a:srgbClr val="C8D8FF"/>
              </a:solidFill>
              <a:latin typeface="Poppins"/>
              <a:ea typeface="Poppins"/>
              <a:cs typeface="Poppins"/>
              <a:sym typeface="Poppins"/>
            </a:endParaRPr>
          </a:p>
          <a:p>
            <a:pPr indent="0" lvl="0" marL="0" marR="0" rtl="0" algn="l">
              <a:lnSpc>
                <a:spcPct val="100000"/>
              </a:lnSpc>
              <a:spcBef>
                <a:spcPts val="0"/>
              </a:spcBef>
              <a:spcAft>
                <a:spcPts val="0"/>
              </a:spcAft>
              <a:buClr>
                <a:srgbClr val="C8D8FF"/>
              </a:buClr>
              <a:buSzPts val="1100"/>
              <a:buFont typeface="Poppins"/>
              <a:buNone/>
            </a:pPr>
            <a:r>
              <a:t/>
            </a:r>
            <a:endParaRPr sz="1100">
              <a:solidFill>
                <a:srgbClr val="C8D8FF"/>
              </a:solidFill>
              <a:latin typeface="Poppins"/>
              <a:ea typeface="Poppins"/>
              <a:cs typeface="Poppins"/>
              <a:sym typeface="Poppins"/>
            </a:endParaRPr>
          </a:p>
        </p:txBody>
      </p:sp>
      <p:sp>
        <p:nvSpPr>
          <p:cNvPr id="215" name="Google Shape;215;p24"/>
          <p:cNvSpPr txBox="1"/>
          <p:nvPr/>
        </p:nvSpPr>
        <p:spPr>
          <a:xfrm>
            <a:off x="345021" y="4201825"/>
            <a:ext cx="3789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lt1"/>
                </a:solidFill>
                <a:hlinkClick r:id="rId3">
                  <a:extLst>
                    <a:ext uri="{A12FA001-AC4F-418D-AE19-62706E023703}">
                      <ahyp:hlinkClr val="tx"/>
                    </a:ext>
                  </a:extLst>
                </a:hlinkClick>
              </a:rPr>
              <a:t>https://opentelemetry.io/docs/specs/semconv/general/</a:t>
            </a:r>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219" name="Shape 219"/>
        <p:cNvGrpSpPr/>
        <p:nvPr/>
      </p:nvGrpSpPr>
      <p:grpSpPr>
        <a:xfrm>
          <a:off x="0" y="0"/>
          <a:ext cx="0" cy="0"/>
          <a:chOff x="0" y="0"/>
          <a:chExt cx="0" cy="0"/>
        </a:xfrm>
      </p:grpSpPr>
      <p:sp>
        <p:nvSpPr>
          <p:cNvPr id="220" name="Google Shape;220;p25"/>
          <p:cNvSpPr txBox="1"/>
          <p:nvPr/>
        </p:nvSpPr>
        <p:spPr>
          <a:xfrm>
            <a:off x="320040" y="258572"/>
            <a:ext cx="8503920" cy="20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i="0" lang="en" sz="1200" u="none" cap="none" strike="noStrike">
                <a:solidFill>
                  <a:srgbClr val="F5A800"/>
                </a:solidFill>
                <a:latin typeface="Poppins"/>
                <a:ea typeface="Poppins"/>
                <a:cs typeface="Poppins"/>
                <a:sym typeface="Poppins"/>
              </a:rPr>
              <a:t>Community</a:t>
            </a:r>
            <a:endParaRPr/>
          </a:p>
        </p:txBody>
      </p:sp>
      <p:sp>
        <p:nvSpPr>
          <p:cNvPr id="221" name="Google Shape;221;p25"/>
          <p:cNvSpPr txBox="1"/>
          <p:nvPr/>
        </p:nvSpPr>
        <p:spPr>
          <a:xfrm>
            <a:off x="320040" y="550000"/>
            <a:ext cx="8503920" cy="43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i="0" lang="en" sz="2600" u="none" cap="none" strike="noStrike">
                <a:solidFill>
                  <a:srgbClr val="FFFFFF"/>
                </a:solidFill>
                <a:latin typeface="Poppins"/>
                <a:ea typeface="Poppins"/>
                <a:cs typeface="Poppins"/>
                <a:sym typeface="Poppins"/>
              </a:rPr>
              <a:t>Where We Need Your Help</a:t>
            </a:r>
            <a:endParaRPr/>
          </a:p>
        </p:txBody>
      </p:sp>
      <p:sp>
        <p:nvSpPr>
          <p:cNvPr id="222" name="Google Shape;222;p25"/>
          <p:cNvSpPr/>
          <p:nvPr/>
        </p:nvSpPr>
        <p:spPr>
          <a:xfrm>
            <a:off x="320040" y="1100000"/>
            <a:ext cx="850392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3" name="Google Shape;223;p25"/>
          <p:cNvSpPr/>
          <p:nvPr/>
        </p:nvSpPr>
        <p:spPr>
          <a:xfrm>
            <a:off x="320040" y="1200000"/>
            <a:ext cx="2720000" cy="375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4" name="Google Shape;224;p25"/>
          <p:cNvSpPr/>
          <p:nvPr/>
        </p:nvSpPr>
        <p:spPr>
          <a:xfrm>
            <a:off x="3231960" y="1200000"/>
            <a:ext cx="2720000" cy="375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5" name="Google Shape;225;p25"/>
          <p:cNvSpPr/>
          <p:nvPr/>
        </p:nvSpPr>
        <p:spPr>
          <a:xfrm>
            <a:off x="6143880" y="1200000"/>
            <a:ext cx="2720000" cy="3750000"/>
          </a:xfrm>
          <a:prstGeom prst="roundRect">
            <a:avLst>
              <a:gd fmla="val 8197" name="adj"/>
            </a:avLst>
          </a:prstGeom>
          <a:solidFill>
            <a:srgbClr val="FFFFFF">
              <a:alpha val="10196"/>
            </a:srgbClr>
          </a:solidFill>
          <a:ln cap="flat" cmpd="sng" w="9525">
            <a:solidFill>
              <a:srgbClr val="FFFFFF">
                <a:alpha val="34902"/>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6" name="Google Shape;226;p25"/>
          <p:cNvSpPr/>
          <p:nvPr/>
        </p:nvSpPr>
        <p:spPr>
          <a:xfrm>
            <a:off x="1440040" y="1310000"/>
            <a:ext cx="480000" cy="480000"/>
          </a:xfrm>
          <a:prstGeom prst="ellipse">
            <a:avLst/>
          </a:prstGeom>
          <a:solidFill>
            <a:srgbClr val="F5A8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34EBF"/>
              </a:buClr>
              <a:buSzPts val="1600"/>
              <a:buFont typeface="Poppins"/>
              <a:buNone/>
            </a:pPr>
            <a:r>
              <a:rPr b="1" i="0" lang="en" sz="1600" u="none" cap="none" strike="noStrike">
                <a:solidFill>
                  <a:srgbClr val="334EBF"/>
                </a:solidFill>
                <a:latin typeface="Poppins"/>
                <a:ea typeface="Poppins"/>
                <a:cs typeface="Poppins"/>
                <a:sym typeface="Poppins"/>
              </a:rPr>
              <a:t>1</a:t>
            </a:r>
            <a:endParaRPr/>
          </a:p>
        </p:txBody>
      </p:sp>
      <p:sp>
        <p:nvSpPr>
          <p:cNvPr id="227" name="Google Shape;227;p25"/>
          <p:cNvSpPr txBox="1"/>
          <p:nvPr/>
        </p:nvSpPr>
        <p:spPr>
          <a:xfrm>
            <a:off x="430040" y="1907678"/>
            <a:ext cx="2499900" cy="20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Industrial Domain Expertise</a:t>
            </a:r>
            <a:endParaRPr/>
          </a:p>
        </p:txBody>
      </p:sp>
      <p:sp>
        <p:nvSpPr>
          <p:cNvPr id="228" name="Google Shape;228;p25"/>
          <p:cNvSpPr/>
          <p:nvPr/>
        </p:nvSpPr>
        <p:spPr>
          <a:xfrm>
            <a:off x="430040" y="2443112"/>
            <a:ext cx="249990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9" name="Google Shape;229;p25"/>
          <p:cNvSpPr txBox="1"/>
          <p:nvPr/>
        </p:nvSpPr>
        <p:spPr>
          <a:xfrm>
            <a:off x="430040" y="2620868"/>
            <a:ext cx="2499900" cy="101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We need contributors and reviewers with hands-on experience in industrial automation, OT environments, and industrial protocols to ensure high-quality implementations.</a:t>
            </a:r>
            <a:endParaRPr/>
          </a:p>
        </p:txBody>
      </p:sp>
      <p:sp>
        <p:nvSpPr>
          <p:cNvPr id="230" name="Google Shape;230;p25"/>
          <p:cNvSpPr/>
          <p:nvPr/>
        </p:nvSpPr>
        <p:spPr>
          <a:xfrm>
            <a:off x="4351960" y="1310000"/>
            <a:ext cx="480000" cy="480000"/>
          </a:xfrm>
          <a:prstGeom prst="ellipse">
            <a:avLst/>
          </a:prstGeom>
          <a:solidFill>
            <a:srgbClr val="F5A8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34EBF"/>
              </a:buClr>
              <a:buSzPts val="1600"/>
              <a:buFont typeface="Poppins"/>
              <a:buNone/>
            </a:pPr>
            <a:r>
              <a:rPr b="1" i="0" lang="en" sz="1600" u="none" cap="none" strike="noStrike">
                <a:solidFill>
                  <a:srgbClr val="334EBF"/>
                </a:solidFill>
                <a:latin typeface="Poppins"/>
                <a:ea typeface="Poppins"/>
                <a:cs typeface="Poppins"/>
                <a:sym typeface="Poppins"/>
              </a:rPr>
              <a:t>2</a:t>
            </a:r>
            <a:endParaRPr/>
          </a:p>
        </p:txBody>
      </p:sp>
      <p:sp>
        <p:nvSpPr>
          <p:cNvPr id="231" name="Google Shape;231;p25"/>
          <p:cNvSpPr txBox="1"/>
          <p:nvPr/>
        </p:nvSpPr>
        <p:spPr>
          <a:xfrm>
            <a:off x="3341960" y="1907678"/>
            <a:ext cx="2499900" cy="400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Vendor Resources &amp; Testing Environments</a:t>
            </a:r>
            <a:endParaRPr/>
          </a:p>
        </p:txBody>
      </p:sp>
      <p:sp>
        <p:nvSpPr>
          <p:cNvPr id="232" name="Google Shape;232;p25"/>
          <p:cNvSpPr/>
          <p:nvPr/>
        </p:nvSpPr>
        <p:spPr>
          <a:xfrm>
            <a:off x="3341960" y="2435592"/>
            <a:ext cx="249990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33" name="Google Shape;233;p25"/>
          <p:cNvSpPr txBox="1"/>
          <p:nvPr/>
        </p:nvSpPr>
        <p:spPr>
          <a:xfrm>
            <a:off x="3341960" y="2613349"/>
            <a:ext cx="2499900" cy="101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We need access to industrial hardware, software, simulators, and vendor expertise to develop, validate, and test receivers and integrations in realistic environments.</a:t>
            </a:r>
            <a:endParaRPr/>
          </a:p>
        </p:txBody>
      </p:sp>
      <p:sp>
        <p:nvSpPr>
          <p:cNvPr id="234" name="Google Shape;234;p25"/>
          <p:cNvSpPr/>
          <p:nvPr/>
        </p:nvSpPr>
        <p:spPr>
          <a:xfrm>
            <a:off x="7263880" y="1310000"/>
            <a:ext cx="480000" cy="480000"/>
          </a:xfrm>
          <a:prstGeom prst="ellipse">
            <a:avLst/>
          </a:prstGeom>
          <a:solidFill>
            <a:srgbClr val="F5A8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34EBF"/>
              </a:buClr>
              <a:buSzPts val="1600"/>
              <a:buFont typeface="Poppins"/>
              <a:buNone/>
            </a:pPr>
            <a:r>
              <a:rPr b="1" i="0" lang="en" sz="1600" u="none" cap="none" strike="noStrike">
                <a:solidFill>
                  <a:srgbClr val="334EBF"/>
                </a:solidFill>
                <a:latin typeface="Poppins"/>
                <a:ea typeface="Poppins"/>
                <a:cs typeface="Poppins"/>
                <a:sym typeface="Poppins"/>
              </a:rPr>
              <a:t>3</a:t>
            </a:r>
            <a:endParaRPr/>
          </a:p>
        </p:txBody>
      </p:sp>
      <p:sp>
        <p:nvSpPr>
          <p:cNvPr id="235" name="Google Shape;235;p25"/>
          <p:cNvSpPr txBox="1"/>
          <p:nvPr/>
        </p:nvSpPr>
        <p:spPr>
          <a:xfrm>
            <a:off x="6253880" y="1907678"/>
            <a:ext cx="2499900" cy="400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5A800"/>
              </a:buClr>
              <a:buSzPts val="1300"/>
              <a:buFont typeface="Poppins"/>
              <a:buNone/>
            </a:pPr>
            <a:r>
              <a:rPr b="1" i="0" lang="en" sz="1300" u="none" cap="none" strike="noStrike">
                <a:solidFill>
                  <a:srgbClr val="F5A800"/>
                </a:solidFill>
                <a:latin typeface="Poppins"/>
                <a:ea typeface="Poppins"/>
                <a:cs typeface="Poppins"/>
                <a:sym typeface="Poppins"/>
              </a:rPr>
              <a:t>End-user Adoption &amp; Test Sites</a:t>
            </a:r>
            <a:endParaRPr/>
          </a:p>
        </p:txBody>
      </p:sp>
      <p:sp>
        <p:nvSpPr>
          <p:cNvPr id="236" name="Google Shape;236;p25"/>
          <p:cNvSpPr/>
          <p:nvPr/>
        </p:nvSpPr>
        <p:spPr>
          <a:xfrm>
            <a:off x="6253880" y="2413033"/>
            <a:ext cx="249990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37" name="Google Shape;237;p25"/>
          <p:cNvSpPr txBox="1"/>
          <p:nvPr/>
        </p:nvSpPr>
        <p:spPr>
          <a:xfrm>
            <a:off x="6253880" y="2590789"/>
            <a:ext cx="2499900" cy="101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8D8FF"/>
              </a:buClr>
              <a:buSzPts val="1100"/>
              <a:buFont typeface="Poppins"/>
              <a:buNone/>
            </a:pPr>
            <a:r>
              <a:rPr b="0" i="0" lang="en" sz="1100" u="none" cap="none" strike="noStrike">
                <a:solidFill>
                  <a:srgbClr val="C8D8FF"/>
                </a:solidFill>
                <a:latin typeface="Poppins"/>
                <a:ea typeface="Poppins"/>
                <a:cs typeface="Poppins"/>
                <a:sym typeface="Poppins"/>
              </a:rPr>
              <a:t>We need organizations willing to provide local test environments for validating receivers and deployment patterns, and to share real-world feedback and use cases.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EBF"/>
        </a:solidFill>
      </p:bgPr>
    </p:bg>
    <p:spTree>
      <p:nvGrpSpPr>
        <p:cNvPr id="241" name="Shape 241"/>
        <p:cNvGrpSpPr/>
        <p:nvPr/>
      </p:nvGrpSpPr>
      <p:grpSpPr>
        <a:xfrm>
          <a:off x="0" y="0"/>
          <a:ext cx="0" cy="0"/>
          <a:chOff x="0" y="0"/>
          <a:chExt cx="0" cy="0"/>
        </a:xfrm>
      </p:grpSpPr>
      <p:sp>
        <p:nvSpPr>
          <p:cNvPr id="242" name="Google Shape;242;p26"/>
          <p:cNvSpPr txBox="1"/>
          <p:nvPr/>
        </p:nvSpPr>
        <p:spPr>
          <a:xfrm>
            <a:off x="320040" y="258572"/>
            <a:ext cx="85038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200"/>
              <a:buFont typeface="Poppins"/>
              <a:buNone/>
            </a:pPr>
            <a:r>
              <a:rPr b="1" lang="en" sz="1200">
                <a:solidFill>
                  <a:srgbClr val="F5A800"/>
                </a:solidFill>
                <a:latin typeface="Poppins"/>
                <a:ea typeface="Poppins"/>
                <a:cs typeface="Poppins"/>
                <a:sym typeface="Poppins"/>
              </a:rPr>
              <a:t>Whitepaper</a:t>
            </a:r>
            <a:endParaRPr/>
          </a:p>
        </p:txBody>
      </p:sp>
      <p:sp>
        <p:nvSpPr>
          <p:cNvPr id="243" name="Google Shape;243;p26"/>
          <p:cNvSpPr txBox="1"/>
          <p:nvPr/>
        </p:nvSpPr>
        <p:spPr>
          <a:xfrm>
            <a:off x="320040" y="550000"/>
            <a:ext cx="8503800" cy="400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600"/>
              <a:buFont typeface="Poppins"/>
              <a:buNone/>
            </a:pPr>
            <a:r>
              <a:rPr b="1" lang="en" sz="2600">
                <a:solidFill>
                  <a:srgbClr val="FFFFFF"/>
                </a:solidFill>
                <a:latin typeface="Poppins"/>
                <a:ea typeface="Poppins"/>
                <a:cs typeface="Poppins"/>
                <a:sym typeface="Poppins"/>
              </a:rPr>
              <a:t>Industrial Observability 2026</a:t>
            </a:r>
            <a:endParaRPr/>
          </a:p>
        </p:txBody>
      </p:sp>
      <p:sp>
        <p:nvSpPr>
          <p:cNvPr id="244" name="Google Shape;244;p26"/>
          <p:cNvSpPr/>
          <p:nvPr/>
        </p:nvSpPr>
        <p:spPr>
          <a:xfrm>
            <a:off x="320040" y="1100000"/>
            <a:ext cx="850380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245" name="Google Shape;245;p26"/>
          <p:cNvPicPr preferRelativeResize="0"/>
          <p:nvPr/>
        </p:nvPicPr>
        <p:blipFill>
          <a:blip r:embed="rId3">
            <a:alphaModFix/>
          </a:blip>
          <a:stretch>
            <a:fillRect/>
          </a:stretch>
        </p:blipFill>
        <p:spPr>
          <a:xfrm>
            <a:off x="320048" y="1621375"/>
            <a:ext cx="4058650" cy="2704701"/>
          </a:xfrm>
          <a:prstGeom prst="rect">
            <a:avLst/>
          </a:prstGeom>
          <a:noFill/>
          <a:ln>
            <a:noFill/>
          </a:ln>
        </p:spPr>
      </p:pic>
      <p:sp>
        <p:nvSpPr>
          <p:cNvPr id="246" name="Google Shape;246;p26"/>
          <p:cNvSpPr txBox="1"/>
          <p:nvPr/>
        </p:nvSpPr>
        <p:spPr>
          <a:xfrm>
            <a:off x="320050" y="4496793"/>
            <a:ext cx="538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lt1"/>
                </a:solidFill>
                <a:hlinkClick r:id="rId4">
                  <a:extLst>
                    <a:ext uri="{A12FA001-AC4F-418D-AE19-62706E023703}">
                      <ahyp:hlinkClr val="tx"/>
                    </a:ext>
                  </a:extLst>
                </a:hlinkClick>
              </a:rPr>
              <a:t>https://github.com/lukaszciukaj/industrial-observability-whitepaper</a:t>
            </a:r>
            <a:endParaRPr>
              <a:solidFill>
                <a:schemeClr val="lt1"/>
              </a:solidFill>
            </a:endParaRPr>
          </a:p>
        </p:txBody>
      </p:sp>
      <p:sp>
        <p:nvSpPr>
          <p:cNvPr id="247" name="Google Shape;247;p26"/>
          <p:cNvSpPr/>
          <p:nvPr/>
        </p:nvSpPr>
        <p:spPr>
          <a:xfrm>
            <a:off x="5060775" y="1383625"/>
            <a:ext cx="3677100" cy="3158400"/>
          </a:xfrm>
          <a:prstGeom prst="roundRect">
            <a:avLst>
              <a:gd fmla="val 8197" name="adj"/>
            </a:avLst>
          </a:prstGeom>
          <a:solidFill>
            <a:srgbClr val="FFFFFF">
              <a:alpha val="10200"/>
            </a:srgbClr>
          </a:solidFill>
          <a:ln cap="flat" cmpd="sng" w="9525">
            <a:solidFill>
              <a:srgbClr val="FFFFFF">
                <a:alpha val="34900"/>
              </a:srgbClr>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8" name="Google Shape;248;p26"/>
          <p:cNvSpPr txBox="1"/>
          <p:nvPr/>
        </p:nvSpPr>
        <p:spPr>
          <a:xfrm>
            <a:off x="5143499" y="1665250"/>
            <a:ext cx="3481200" cy="3090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100">
                <a:solidFill>
                  <a:srgbClr val="C8D8FF"/>
                </a:solidFill>
                <a:latin typeface="Poppins"/>
                <a:ea typeface="Poppins"/>
                <a:cs typeface="Poppins"/>
                <a:sym typeface="Poppins"/>
              </a:rPr>
              <a:t>Industrial Observability 2026</a:t>
            </a:r>
            <a:br>
              <a:rPr b="1" lang="en" sz="1100">
                <a:solidFill>
                  <a:srgbClr val="C8D8FF"/>
                </a:solidFill>
                <a:latin typeface="Poppins"/>
                <a:ea typeface="Poppins"/>
                <a:cs typeface="Poppins"/>
                <a:sym typeface="Poppins"/>
              </a:rPr>
            </a:br>
            <a:endParaRPr b="1"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100">
                <a:solidFill>
                  <a:srgbClr val="C8D8FF"/>
                </a:solidFill>
                <a:latin typeface="Poppins"/>
                <a:ea typeface="Poppins"/>
                <a:cs typeface="Poppins"/>
                <a:sym typeface="Poppins"/>
              </a:rPr>
              <a:t>The first edition provides an overview of:</a:t>
            </a:r>
            <a:endParaRPr sz="1100">
              <a:solidFill>
                <a:srgbClr val="C8D8FF"/>
              </a:solidFill>
              <a:latin typeface="Poppins"/>
              <a:ea typeface="Poppins"/>
              <a:cs typeface="Poppins"/>
              <a:sym typeface="Poppins"/>
            </a:endParaRPr>
          </a:p>
          <a:p>
            <a:pPr indent="-298450" lvl="0" marL="457200" rtl="0" algn="l">
              <a:lnSpc>
                <a:spcPct val="115000"/>
              </a:lnSpc>
              <a:spcBef>
                <a:spcPts val="0"/>
              </a:spcBef>
              <a:spcAft>
                <a:spcPts val="0"/>
              </a:spcAft>
              <a:buClr>
                <a:srgbClr val="C8D8FF"/>
              </a:buClr>
              <a:buSzPts val="1100"/>
              <a:buFont typeface="Poppins"/>
              <a:buChar char="●"/>
            </a:pPr>
            <a:r>
              <a:rPr lang="en" sz="1100">
                <a:solidFill>
                  <a:srgbClr val="C8D8FF"/>
                </a:solidFill>
                <a:latin typeface="Poppins"/>
                <a:ea typeface="Poppins"/>
                <a:cs typeface="Poppins"/>
                <a:sym typeface="Poppins"/>
              </a:rPr>
              <a:t>Industry trends and challenges</a:t>
            </a:r>
            <a:endParaRPr sz="1100">
              <a:solidFill>
                <a:srgbClr val="C8D8FF"/>
              </a:solidFill>
              <a:latin typeface="Poppins"/>
              <a:ea typeface="Poppins"/>
              <a:cs typeface="Poppins"/>
              <a:sym typeface="Poppins"/>
            </a:endParaRPr>
          </a:p>
          <a:p>
            <a:pPr indent="-298450" lvl="0" marL="457200" rtl="0" algn="l">
              <a:lnSpc>
                <a:spcPct val="115000"/>
              </a:lnSpc>
              <a:spcBef>
                <a:spcPts val="0"/>
              </a:spcBef>
              <a:spcAft>
                <a:spcPts val="0"/>
              </a:spcAft>
              <a:buClr>
                <a:srgbClr val="C8D8FF"/>
              </a:buClr>
              <a:buSzPts val="1100"/>
              <a:buFont typeface="Poppins"/>
              <a:buChar char="●"/>
            </a:pPr>
            <a:r>
              <a:rPr lang="en" sz="1100">
                <a:solidFill>
                  <a:srgbClr val="C8D8FF"/>
                </a:solidFill>
                <a:latin typeface="Poppins"/>
                <a:ea typeface="Poppins"/>
                <a:cs typeface="Poppins"/>
                <a:sym typeface="Poppins"/>
              </a:rPr>
              <a:t>OpenTelemetry in industrial environments</a:t>
            </a:r>
            <a:endParaRPr sz="1100">
              <a:solidFill>
                <a:srgbClr val="C8D8FF"/>
              </a:solidFill>
              <a:latin typeface="Poppins"/>
              <a:ea typeface="Poppins"/>
              <a:cs typeface="Poppins"/>
              <a:sym typeface="Poppins"/>
            </a:endParaRPr>
          </a:p>
          <a:p>
            <a:pPr indent="-298450" lvl="0" marL="457200" rtl="0" algn="l">
              <a:lnSpc>
                <a:spcPct val="115000"/>
              </a:lnSpc>
              <a:spcBef>
                <a:spcPts val="0"/>
              </a:spcBef>
              <a:spcAft>
                <a:spcPts val="0"/>
              </a:spcAft>
              <a:buClr>
                <a:srgbClr val="C8D8FF"/>
              </a:buClr>
              <a:buSzPts val="1100"/>
              <a:buFont typeface="Poppins"/>
              <a:buChar char="●"/>
            </a:pPr>
            <a:r>
              <a:rPr lang="en" sz="1100">
                <a:solidFill>
                  <a:srgbClr val="C8D8FF"/>
                </a:solidFill>
                <a:latin typeface="Poppins"/>
                <a:ea typeface="Poppins"/>
                <a:cs typeface="Poppins"/>
                <a:sym typeface="Poppins"/>
              </a:rPr>
              <a:t>Reference architectures</a:t>
            </a:r>
            <a:endParaRPr sz="1100">
              <a:solidFill>
                <a:srgbClr val="C8D8FF"/>
              </a:solidFill>
              <a:latin typeface="Poppins"/>
              <a:ea typeface="Poppins"/>
              <a:cs typeface="Poppins"/>
              <a:sym typeface="Poppins"/>
            </a:endParaRPr>
          </a:p>
          <a:p>
            <a:pPr indent="-298450" lvl="0" marL="457200" rtl="0" algn="l">
              <a:lnSpc>
                <a:spcPct val="115000"/>
              </a:lnSpc>
              <a:spcBef>
                <a:spcPts val="0"/>
              </a:spcBef>
              <a:spcAft>
                <a:spcPts val="0"/>
              </a:spcAft>
              <a:buClr>
                <a:srgbClr val="C8D8FF"/>
              </a:buClr>
              <a:buSzPts val="1100"/>
              <a:buFont typeface="Poppins"/>
              <a:buChar char="●"/>
            </a:pPr>
            <a:r>
              <a:rPr lang="en" sz="1100">
                <a:solidFill>
                  <a:srgbClr val="C8D8FF"/>
                </a:solidFill>
                <a:latin typeface="Poppins"/>
                <a:ea typeface="Poppins"/>
                <a:cs typeface="Poppins"/>
                <a:sym typeface="Poppins"/>
              </a:rPr>
              <a:t>Community opportunities</a:t>
            </a:r>
            <a:endParaRPr sz="1100">
              <a:solidFill>
                <a:srgbClr val="C8D8FF"/>
              </a:solidFill>
              <a:latin typeface="Poppins"/>
              <a:ea typeface="Poppins"/>
              <a:cs typeface="Poppins"/>
              <a:sym typeface="Poppins"/>
            </a:endParaRPr>
          </a:p>
          <a:p>
            <a:pPr indent="-298450" lvl="0" marL="457200" rtl="0" algn="l">
              <a:lnSpc>
                <a:spcPct val="115000"/>
              </a:lnSpc>
              <a:spcBef>
                <a:spcPts val="0"/>
              </a:spcBef>
              <a:spcAft>
                <a:spcPts val="0"/>
              </a:spcAft>
              <a:buClr>
                <a:srgbClr val="C8D8FF"/>
              </a:buClr>
              <a:buSzPts val="1100"/>
              <a:buFont typeface="Poppins"/>
              <a:buChar char="●"/>
            </a:pPr>
            <a:r>
              <a:rPr lang="en" sz="1100">
                <a:solidFill>
                  <a:srgbClr val="C8D8FF"/>
                </a:solidFill>
                <a:latin typeface="Poppins"/>
                <a:ea typeface="Poppins"/>
                <a:cs typeface="Poppins"/>
                <a:sym typeface="Poppins"/>
              </a:rPr>
              <a:t>Future directions</a:t>
            </a:r>
            <a:endParaRPr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 sz="1100">
                <a:solidFill>
                  <a:srgbClr val="C8D8FF"/>
                </a:solidFill>
                <a:latin typeface="Poppins"/>
                <a:ea typeface="Poppins"/>
                <a:cs typeface="Poppins"/>
                <a:sym typeface="Poppins"/>
              </a:rPr>
              <a:t>Industrial Observability 2027</a:t>
            </a:r>
            <a:br>
              <a:rPr b="1" lang="en" sz="1100">
                <a:solidFill>
                  <a:srgbClr val="C8D8FF"/>
                </a:solidFill>
                <a:latin typeface="Poppins"/>
                <a:ea typeface="Poppins"/>
                <a:cs typeface="Poppins"/>
                <a:sym typeface="Poppins"/>
              </a:rPr>
            </a:br>
            <a:endParaRPr b="1" sz="1100">
              <a:solidFill>
                <a:srgbClr val="C8D8FF"/>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n" sz="1100">
                <a:solidFill>
                  <a:srgbClr val="C8D8FF"/>
                </a:solidFill>
                <a:latin typeface="Poppins"/>
                <a:ea typeface="Poppins"/>
                <a:cs typeface="Poppins"/>
                <a:sym typeface="Poppins"/>
              </a:rPr>
              <a:t>A community-driven whitepaper, likely maintained under the OpenTelemetry Industrial project.</a:t>
            </a:r>
            <a:br>
              <a:rPr lang="en" sz="1100">
                <a:solidFill>
                  <a:srgbClr val="C8D8FF"/>
                </a:solidFill>
                <a:latin typeface="Poppins"/>
                <a:ea typeface="Poppins"/>
                <a:cs typeface="Poppins"/>
                <a:sym typeface="Poppins"/>
              </a:rPr>
            </a:br>
            <a:endParaRPr sz="1100">
              <a:solidFill>
                <a:srgbClr val="C8D8FF"/>
              </a:solidFill>
              <a:latin typeface="Poppins"/>
              <a:ea typeface="Poppins"/>
              <a:cs typeface="Poppins"/>
              <a:sym typeface="Poppins"/>
            </a:endParaRPr>
          </a:p>
          <a:p>
            <a:pPr indent="0" lvl="0" marL="0" marR="0" rtl="0" algn="l">
              <a:lnSpc>
                <a:spcPct val="100000"/>
              </a:lnSpc>
              <a:spcBef>
                <a:spcPts val="0"/>
              </a:spcBef>
              <a:spcAft>
                <a:spcPts val="0"/>
              </a:spcAft>
              <a:buClr>
                <a:srgbClr val="C8D8FF"/>
              </a:buClr>
              <a:buSzPts val="1100"/>
              <a:buFont typeface="Poppins"/>
              <a:buNone/>
            </a:pPr>
            <a:r>
              <a:t/>
            </a:r>
            <a:endParaRPr sz="1100">
              <a:solidFill>
                <a:srgbClr val="C8D8FF"/>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34EBF"/>
            </a:gs>
            <a:gs pos="100000">
              <a:srgbClr val="2C3E89"/>
            </a:gs>
          </a:gsLst>
          <a:lin ang="5400011" scaled="0"/>
        </a:gradFill>
      </p:bgPr>
    </p:bg>
    <p:spTree>
      <p:nvGrpSpPr>
        <p:cNvPr id="252" name="Shape 252"/>
        <p:cNvGrpSpPr/>
        <p:nvPr/>
      </p:nvGrpSpPr>
      <p:grpSpPr>
        <a:xfrm>
          <a:off x="0" y="0"/>
          <a:ext cx="0" cy="0"/>
          <a:chOff x="0" y="0"/>
          <a:chExt cx="0" cy="0"/>
        </a:xfrm>
      </p:grpSpPr>
      <p:sp>
        <p:nvSpPr>
          <p:cNvPr id="253" name="Google Shape;253;p27"/>
          <p:cNvSpPr txBox="1"/>
          <p:nvPr/>
        </p:nvSpPr>
        <p:spPr>
          <a:xfrm>
            <a:off x="320040" y="1300000"/>
            <a:ext cx="5200000" cy="90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5400"/>
              <a:buFont typeface="Poppins"/>
              <a:buNone/>
            </a:pPr>
            <a:r>
              <a:rPr b="1" i="0" lang="en" sz="5400" u="none" cap="none" strike="noStrike">
                <a:solidFill>
                  <a:srgbClr val="FFFFFF"/>
                </a:solidFill>
                <a:latin typeface="Poppins"/>
                <a:ea typeface="Poppins"/>
                <a:cs typeface="Poppins"/>
                <a:sym typeface="Poppins"/>
              </a:rPr>
              <a:t>Thank You!</a:t>
            </a:r>
            <a:endParaRPr/>
          </a:p>
        </p:txBody>
      </p:sp>
      <p:sp>
        <p:nvSpPr>
          <p:cNvPr id="254" name="Google Shape;254;p27"/>
          <p:cNvSpPr txBox="1"/>
          <p:nvPr/>
        </p:nvSpPr>
        <p:spPr>
          <a:xfrm>
            <a:off x="320040" y="2300000"/>
            <a:ext cx="5200000" cy="42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5A800"/>
              </a:buClr>
              <a:buSzPts val="1800"/>
              <a:buFont typeface="Poppins"/>
              <a:buNone/>
            </a:pPr>
            <a:r>
              <a:rPr b="0" i="0" lang="en" sz="1800" u="none" cap="none" strike="noStrike">
                <a:solidFill>
                  <a:srgbClr val="F5A800"/>
                </a:solidFill>
                <a:latin typeface="Poppins"/>
                <a:ea typeface="Poppins"/>
                <a:cs typeface="Poppins"/>
                <a:sym typeface="Poppins"/>
              </a:rPr>
              <a:t>Questions &amp; Discussion</a:t>
            </a:r>
            <a:endParaRPr/>
          </a:p>
        </p:txBody>
      </p:sp>
      <p:sp>
        <p:nvSpPr>
          <p:cNvPr id="255" name="Google Shape;255;p27"/>
          <p:cNvSpPr/>
          <p:nvPr/>
        </p:nvSpPr>
        <p:spPr>
          <a:xfrm>
            <a:off x="320040" y="2880000"/>
            <a:ext cx="5000000" cy="38100"/>
          </a:xfrm>
          <a:prstGeom prst="rect">
            <a:avLst/>
          </a:prstGeom>
          <a:solidFill>
            <a:srgbClr val="F5A800"/>
          </a:solidFill>
          <a:ln cap="flat" cmpd="sng" w="12700">
            <a:solidFill>
              <a:srgbClr val="F5A8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6" name="Google Shape;256;p27"/>
          <p:cNvSpPr/>
          <p:nvPr/>
        </p:nvSpPr>
        <p:spPr>
          <a:xfrm>
            <a:off x="6121079" y="1547068"/>
            <a:ext cx="2049300" cy="2049300"/>
          </a:xfrm>
          <a:prstGeom prst="ellipse">
            <a:avLst/>
          </a:prstGeom>
          <a:solidFill>
            <a:srgbClr val="FDFDF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257" name="Google Shape;257;p27"/>
          <p:cNvPicPr preferRelativeResize="0"/>
          <p:nvPr/>
        </p:nvPicPr>
        <p:blipFill>
          <a:blip r:embed="rId3">
            <a:alphaModFix/>
          </a:blip>
          <a:stretch>
            <a:fillRect/>
          </a:stretch>
        </p:blipFill>
        <p:spPr>
          <a:xfrm>
            <a:off x="6453163" y="1859878"/>
            <a:ext cx="1385125" cy="1385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